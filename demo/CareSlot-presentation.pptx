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b413dc7b-6465-67cf-76a3-4800c6780daf}">
          <p14:sldIdLst>
            <p14:sldId id="256"/>
            <p14:sldId id="257"/>
            <p14:sldId id="258"/>
            <p14:sldId id="259"/>
          </p14:sldIdLst>
        </p14:section>
        <p14:section name="Pipeline" id="{c495b7f3-2da8-330d-3529-d3c7c84d6ace}">
          <p14:sldIdLst>
            <p14:sldId id="260"/>
            <p14:sldId id="261"/>
            <p14:sldId id="262"/>
          </p14:sldIdLst>
        </p14:section>
        <p14:section name="Platform" id="{829e7b95-89a9-4cad-d6a8-06a4c4e81a4a}">
          <p14:sldIdLst>
            <p14:sldId id="263"/>
            <p14:sldId id="264"/>
            <p14:sldId id="265"/>
            <p14:sldId id="266"/>
          </p14:sldIdLst>
        </p14:section>
        <p14:section name="Wrap-up" id="{dc89ad61-f9ce-9c35-cb32-72b4fe29dbb4}">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2A2E"/>
                </a:solidFill>
                <a:latin typeface="+mn-lt"/>
              </a:defRPr>
            </a:pPr>
            <a:r>
              <a:rPr sz="1300" b="0" i="0" u="none" strike="noStrike">
                <a:solidFill>
                  <a:srgbClr val="1D2A2E"/>
                </a:solidFill>
                <a:latin typeface="+mn-lt"/>
              </a:rPr>
              <a:t>Backend pods UP (Prometheus, 1-min steps)</a:t>
            </a:r>
          </a:p>
        </c:rich>
      </c:tx>
      <c:layout/>
      <c:overlay val="0"/>
    </c:title>
    <c:autoTitleDeleted val="0"/>
    <c:plotArea>
      <c:layout/>
      <c:lineChart>
        <c:varyColors val="0"/>
        <c:ser>
          <c:idx val="0"/>
          <c:order val="0"/>
          <c:tx>
            <c:strRef>
              <c:f>Sheet1!$B$1</c:f>
              <c:strCache>
                <c:ptCount val="1"/>
                <c:pt idx="0">
                  <c:v>Backend pods UP</c:v>
                </c:pt>
              </c:strCache>
            </c:strRef>
          </c:tx>
          <c:spPr>
            <a:solidFill>
              <a:srgbClr val="0F6B74"/>
            </a:solidFill>
            <a:ln w="38100" cap="flat">
              <a:solidFill>
                <a:srgbClr val="0F6B74"/>
              </a:solidFill>
              <a:prstDash val="solid"/>
              <a:round/>
            </a:ln>
            <a:effectLst/>
          </c:spPr>
          <c:invertIfNegative val="0"/>
          <c:dLbls>
            <c:numFmt formatCode="#,##0" sourceLinked="0"/>
            <c:txPr>
              <a:bodyPr/>
              <a:lstStyle/>
              <a:p>
                <a:pPr>
                  <a:defRPr b="0" i="0" strike="noStrike" sz="1100" u="none">
                    <a:solidFill>
                      <a:srgbClr val="1D2A2E"/>
                    </a:solidFill>
                    <a:latin typeface="+mn-lt"/>
                  </a:defRPr>
                </a:pPr>
              </a:p>
            </c:txPr>
            <c:dLblPos val="t"/>
            <c:showLegendKey val="0"/>
            <c:showVal val="1"/>
            <c:showCatName val="0"/>
            <c:showSerName val="0"/>
            <c:showPercent val="0"/>
            <c:showBubbleSize val="0"/>
            <c:showLeaderLines val="0"/>
          </c:dLbls>
          <c:marker>
            <c:symbol val="circle"/>
            <c:size val="7"/>
            <c:spPr>
              <a:solidFill>
                <a:srgbClr val="0F6B74"/>
              </a:solidFill>
              <a:ln w="9525" cap="flat">
                <a:solidFill>
                  <a:srgbClr val="0F6B74"/>
                </a:solidFill>
                <a:prstDash val="solid"/>
                <a:round/>
              </a:ln>
              <a:effectLst/>
            </c:spPr>
          </c:marker>
          <c:cat>
            <c:multiLvlStrRef>
              <c:f>Sheet1!$A$2:$A$13</c:f>
              <c:multiLvlStrCache>
                <c:ptCount val="12"/>
                <c:lvl>
                  <c:pt idx="0">
                    <c:v>15:12</c:v>
                  </c:pt>
                  <c:pt idx="1">
                    <c:v>15:13</c:v>
                  </c:pt>
                  <c:pt idx="2">
                    <c:v>15:14</c:v>
                  </c:pt>
                  <c:pt idx="3">
                    <c:v>15:15</c:v>
                  </c:pt>
                  <c:pt idx="4">
                    <c:v>15:16</c:v>
                  </c:pt>
                  <c:pt idx="5">
                    <c:v>15:17</c:v>
                  </c:pt>
                  <c:pt idx="6">
                    <c:v>15:18</c:v>
                  </c:pt>
                  <c:pt idx="7">
                    <c:v>15:19</c:v>
                  </c:pt>
                  <c:pt idx="8">
                    <c:v>15:20</c:v>
                  </c:pt>
                  <c:pt idx="9">
                    <c:v>15:21</c:v>
                  </c:pt>
                  <c:pt idx="10">
                    <c:v>15:22</c:v>
                  </c:pt>
                  <c:pt idx="11">
                    <c:v>15:23</c:v>
                  </c:pt>
                </c:lvl>
              </c:multiLvlStrCache>
            </c:multiLvlStrRef>
          </c:cat>
          <c:val>
            <c:numRef>
              <c:f>Sheet1!$B$2:$B$13</c:f>
              <c:numCache>
                <c:formatCode>General</c:formatCode>
                <c:ptCount val="12"/>
                <c:pt idx="0">
                  <c:v>2</c:v>
                </c:pt>
                <c:pt idx="1">
                  <c:v>2</c:v>
                </c:pt>
                <c:pt idx="2">
                  <c:v>2</c:v>
                </c:pt>
                <c:pt idx="3">
                  <c:v>3</c:v>
                </c:pt>
                <c:pt idx="4">
                  <c:v>6</c:v>
                </c:pt>
                <c:pt idx="5">
                  <c:v>6</c:v>
                </c:pt>
                <c:pt idx="6">
                  <c:v>6</c:v>
                </c:pt>
                <c:pt idx="7">
                  <c:v>6</c:v>
                </c:pt>
                <c:pt idx="8">
                  <c:v>6</c:v>
                </c:pt>
                <c:pt idx="9">
                  <c:v>5</c:v>
                </c:pt>
                <c:pt idx="10">
                  <c:v>2</c:v>
                </c:pt>
                <c:pt idx="11">
                  <c:v>2</c:v>
                </c:pt>
              </c:numCache>
            </c:numRef>
          </c:val>
          <c:smooth val="0"/>
        </c:ser>
        <c:dLbls>
          <c:numFmt formatCode="#,##0" sourceLinked="0"/>
          <c:txPr>
            <a:bodyPr/>
            <a:lstStyle/>
            <a:p>
              <a:pPr>
                <a:defRPr b="0" i="0" strike="noStrike" sz="1100" u="none">
                  <a:solidFill>
                    <a:srgbClr val="1D2A2E"/>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6E"/>
                </a:solidFill>
                <a:latin typeface="+mn-lt"/>
              </a:defRPr>
            </a:pPr>
            <a:endParaRPr lang="en-US"/>
          </a:p>
        </c:txPr>
        <c:crossAx val="2094734552"/>
        <c:crosses val="autoZero"/>
        <c:auto val="1"/>
        <c:lblAlgn val="ctr"/>
        <c:noMultiLvlLbl val="1"/>
      </c:catAx>
      <c:valAx>
        <c:axId val="2094734552"/>
        <c:scaling>
          <c:orientation val="minMax"/>
          <c:max val="7"/>
          <c:min val="0"/>
        </c:scaling>
        <c:delete val="0"/>
        <c:axPos val="l"/>
        <c:majorGridlines>
          <c:spPr>
            <a:ln w="6350" cap="flat">
              <a:solidFill>
                <a:srgbClr val="E1E8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F6B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&lt;your name&gt;. This is CareSlot, a clinic appointment scheduler, and the DevSecOps pipeline that takes it from my laptop to a monitored Kubernetes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clinics still book on paper or in spreadsheets. Two receptionists can book the same doctor at the same time, and nobody knows who is in the waiting room. CareSlot fixes that; its main rule is that a doctor can never be double-booked.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front desk, FastAPI backend, Postgres. Appointments follow a workflow, and a booking that overlaps one the doctor already has comes back as a 409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the layers quickly: app, quality, containers, CI, security, infra, Kubernetes,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Actions tests and scans, images go to GHCR tagged with the commit SHA, CI writes that SHA into Git, Argo CD syncs the cluster, Prometheus scrapes, Grafana shows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quality gates run in parallel. The images are built once, Trivy scans them, and only clean images are pushed. Then a throwaway kind cluster installs the chart and books a real appointment before anything is promoted.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caught a real one: CVE-2025-62727 in Starlette 0.48, a Range-header denial of service. I upgraded the stack and stripped pip out of the runtime image; both images now scan with zero fixable HIGH or CRITICAL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modules for the VPC and EKS: two public and two private subnets, NAT, a managed node group, KMS-encrypted secrets. I ran plan, apply and destroy, 28 resources each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Helm chart: two replicas each, ClusterIP services, an Ingress that splits / and /api, an HPA from 2 to 6, non-root pods, Pod Security on the namespace. Argo CD does the deploying.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metrics-server feeds CPU to the HPA. Under 60 concurrent workers the backend went from 2 to 6 pods, the configured maximum; it scales back down after a 2-minute stabilisation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ServiceMonitor gets Prometheus scraping /metrics. Grafana shows traffic, latency, errors, CPU per pod, and business metrics like bookings by specialty and rejected double-bookings.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or three in your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3D47"/>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C3C7"/>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F6B6E"/>
                </a:solidFill>
              </a:rPr>
              <a:t>CareSlot · DevSecOps capstone</a:t>
            </a:r>
            <a:endParaRPr lang="en-US" sz="10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E"/>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C3C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0-1.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3" name="Text 0"/>
          <p:cNvSpPr txBox="1"/>
          <p:nvPr/>
        </p:nvSpPr>
        <p:spPr>
          <a:xfrm>
            <a:off x="731520" y="1920240"/>
            <a:ext cx="5669280" cy="100584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CareSlot</a:t>
            </a:r>
            <a:endParaRPr lang="en-US" sz="5400" dirty="0"/>
          </a:p>
        </p:txBody>
      </p:sp>
      <p:sp>
        <p:nvSpPr>
          <p:cNvPr id="4" name="Text 1"/>
          <p:cNvSpPr txBox="1"/>
          <p:nvPr/>
        </p:nvSpPr>
        <p:spPr>
          <a:xfrm>
            <a:off x="731520" y="2926080"/>
            <a:ext cx="5303520" cy="914400"/>
          </a:xfrm>
          <a:prstGeom prst="rect">
            <a:avLst/>
          </a:prstGeom>
          <a:noFill/>
          <a:ln/>
        </p:spPr>
        <p:txBody>
          <a:bodyPr wrap="square" lIns="0" tIns="0" rIns="0" bIns="0" rtlCol="0" anchor="ctr"/>
          <a:lstStyle/>
          <a:p>
            <a:pPr indent="0" marL="0">
              <a:buNone/>
            </a:pPr>
            <a:r>
              <a:rPr lang="en-US" sz="2000" dirty="0">
                <a:solidFill>
                  <a:srgbClr val="CFE3E3"/>
                </a:solidFill>
              </a:rPr>
              <a:t>Clinic appointment scheduling, shipped from laptop to a monitored Kubernetes cluster</a:t>
            </a:r>
            <a:endParaRPr lang="en-US" sz="2000" dirty="0"/>
          </a:p>
        </p:txBody>
      </p:sp>
      <p:sp>
        <p:nvSpPr>
          <p:cNvPr id="5" name="Text 2"/>
          <p:cNvSpPr txBox="1"/>
          <p:nvPr/>
        </p:nvSpPr>
        <p:spPr>
          <a:xfrm>
            <a:off x="731520" y="4846320"/>
            <a:ext cx="5486400" cy="731520"/>
          </a:xfrm>
          <a:prstGeom prst="rect">
            <a:avLst/>
          </a:prstGeom>
          <a:noFill/>
          <a:ln/>
        </p:spPr>
        <p:txBody>
          <a:bodyPr wrap="square" lIns="0" tIns="0" rIns="0" bIns="0" rtlCol="0" anchor="ctr"/>
          <a:lstStyle/>
          <a:p>
            <a:pPr indent="0" marL="0">
              <a:buNone/>
            </a:pPr>
            <a:r>
              <a:rPr lang="en-US" sz="1400" dirty="0">
                <a:solidFill>
                  <a:srgbClr val="9FC3C7"/>
                </a:solidFill>
              </a:rPr>
              <a:t>DevOps Final Capstone · Session 21</a:t>
            </a:r>
            <a:endParaRPr lang="en-US" sz="1400" dirty="0"/>
          </a:p>
          <a:p>
            <a:pPr indent="0" marL="0">
              <a:buNone/>
            </a:pPr>
            <a:r>
              <a:rPr lang="en-US" sz="1400" dirty="0">
                <a:solidFill>
                  <a:srgbClr val="9FC3C7"/>
                </a:solidFill>
              </a:rPr>
              <a:t>github.com/MadaraUchiha-tech/devsecops-python</a:t>
            </a:r>
            <a:endParaRPr lang="en-US" sz="1400" dirty="0"/>
          </a:p>
        </p:txBody>
      </p:sp>
      <p:pic>
        <p:nvPicPr>
          <p:cNvPr id="6" name="Image 1" descr="/Users/navjeetsingh/projects/devsecops-python/demo/screenshots/01-app-schedule-ingress.png">    </p:cNvPr>
          <p:cNvPicPr>
            <a:picLocks noChangeAspect="1"/>
          </p:cNvPicPr>
          <p:nvPr/>
        </p:nvPicPr>
        <p:blipFill>
          <a:blip r:embed="rId2"/>
          <a:stretch>
            <a:fillRect/>
          </a:stretch>
        </p:blipFill>
        <p:spPr>
          <a:xfrm>
            <a:off x="6309360" y="1737360"/>
            <a:ext cx="5303520" cy="3319272"/>
          </a:xfrm>
          <a:prstGeom prst="rect">
            <a:avLst/>
          </a:prstGeom>
          <a:effectLst>
            <a:outerShdw sx="100000" sy="100000" kx="0" ky="0" algn="bl" rotWithShape="0" blurRad="101600" dist="38100" dir="5400000">
              <a:srgbClr val="1D2A2E">
                <a:alpha val="18000"/>
              </a:srgbClr>
            </a:outerShdw>
          </a:effectLst>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C3C7"/>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F3D47"/>
                </a:solidFill>
                <a:latin typeface="Arial" pitchFamily="34" charset="0"/>
                <a:ea typeface="Arial" pitchFamily="34" charset="-122"/>
                <a:cs typeface="Arial" pitchFamily="34" charset="-120"/>
              </a:rPr>
              <a:t>Front desks double-book doctors</a:t>
            </a:r>
            <a:endParaRPr lang="en-US" sz="3000" dirty="0"/>
          </a:p>
        </p:txBody>
      </p:sp>
      <p:sp>
        <p:nvSpPr>
          <p:cNvPr id="3" name="Text 1"/>
          <p:cNvSpPr txBox="1"/>
          <p:nvPr/>
        </p:nvSpPr>
        <p:spPr>
          <a:xfrm>
            <a:off x="548640" y="1097280"/>
            <a:ext cx="11064240" cy="411480"/>
          </a:xfrm>
          <a:prstGeom prst="rect">
            <a:avLst/>
          </a:prstGeom>
          <a:noFill/>
          <a:ln/>
        </p:spPr>
        <p:txBody>
          <a:bodyPr wrap="square" lIns="0" tIns="0" rIns="0" bIns="0" rtlCol="0" anchor="ctr"/>
          <a:lstStyle/>
          <a:p>
            <a:pPr indent="0" marL="0">
              <a:buNone/>
            </a:pPr>
            <a:r>
              <a:rPr lang="en-US" sz="1600" dirty="0">
                <a:solidFill>
                  <a:srgbClr val="4B585C"/>
                </a:solidFill>
              </a:rPr>
              <a:t>Small clinics still schedule on paper or shared spreadsheets. CareSlot replaces that with one source of truth.</a:t>
            </a:r>
            <a:endParaRPr lang="en-US" sz="1600" dirty="0"/>
          </a:p>
        </p:txBody>
      </p:sp>
      <p:sp>
        <p:nvSpPr>
          <p:cNvPr id="4" name="Shape 2"/>
          <p:cNvSpPr/>
          <p:nvPr/>
        </p:nvSpPr>
        <p:spPr>
          <a:xfrm>
            <a:off x="548640" y="1920240"/>
            <a:ext cx="548640" cy="548640"/>
          </a:xfrm>
          <a:prstGeom prst="ellipse">
            <a:avLst/>
          </a:prstGeom>
          <a:solidFill>
            <a:srgbClr val="EEF4F4"/>
          </a:solidFill>
          <a:ln/>
        </p:spPr>
      </p:sp>
      <p:pic>
        <p:nvPicPr>
          <p:cNvPr id="5" name="Image 0" descr="preencoded.png">    </p:cNvPr>
          <p:cNvPicPr>
            <a:picLocks noChangeAspect="1"/>
          </p:cNvPicPr>
          <p:nvPr/>
        </p:nvPicPr>
        <p:blipFill>
          <a:blip r:embed="rId1"/>
          <a:stretch>
            <a:fillRect/>
          </a:stretch>
        </p:blipFill>
        <p:spPr>
          <a:xfrm>
            <a:off x="676656" y="2048256"/>
            <a:ext cx="292608" cy="292608"/>
          </a:xfrm>
          <a:prstGeom prst="rect">
            <a:avLst/>
          </a:prstGeom>
        </p:spPr>
      </p:pic>
      <p:sp>
        <p:nvSpPr>
          <p:cNvPr id="6" name="Text 3"/>
          <p:cNvSpPr txBox="1"/>
          <p:nvPr/>
        </p:nvSpPr>
        <p:spPr>
          <a:xfrm>
            <a:off x="1280160" y="1874520"/>
            <a:ext cx="5120640" cy="868680"/>
          </a:xfrm>
          <a:prstGeom prst="rect">
            <a:avLst/>
          </a:prstGeom>
          <a:noFill/>
          <a:ln/>
        </p:spPr>
        <p:txBody>
          <a:bodyPr wrap="square" lIns="0" tIns="0" rIns="0" bIns="0" rtlCol="0" anchor="t"/>
          <a:lstStyle/>
          <a:p>
            <a:pPr indent="0" marL="0">
              <a:buNone/>
            </a:pPr>
            <a:r>
              <a:rPr lang="en-US" sz="1600" b="1" dirty="0">
                <a:solidFill>
                  <a:srgbClr val="1D2A2E"/>
                </a:solidFill>
              </a:rPr>
              <a:t>Double booking</a:t>
            </a:r>
            <a:endParaRPr lang="en-US" sz="1600" dirty="0"/>
          </a:p>
          <a:p>
            <a:pPr indent="0" marL="0">
              <a:buNone/>
            </a:pPr>
            <a:r>
              <a:rPr lang="en-US" sz="1400" dirty="0">
                <a:solidFill>
                  <a:srgbClr val="4B585C"/>
                </a:solidFill>
              </a:rPr>
              <a:t>Two receptionists book the same doctor at the same time. The API refuses overlapping slots with a 409.</a:t>
            </a:r>
            <a:endParaRPr lang="en-US" sz="1600" dirty="0"/>
          </a:p>
        </p:txBody>
      </p:sp>
      <p:sp>
        <p:nvSpPr>
          <p:cNvPr id="7" name="Shape 4"/>
          <p:cNvSpPr/>
          <p:nvPr/>
        </p:nvSpPr>
        <p:spPr>
          <a:xfrm>
            <a:off x="548640" y="3017520"/>
            <a:ext cx="548640" cy="548640"/>
          </a:xfrm>
          <a:prstGeom prst="ellipse">
            <a:avLst/>
          </a:prstGeom>
          <a:solidFill>
            <a:srgbClr val="EEF4F4"/>
          </a:solidFill>
          <a:ln/>
        </p:spPr>
      </p:sp>
      <p:pic>
        <p:nvPicPr>
          <p:cNvPr id="8" name="Image 1" descr="preencoded.png">    </p:cNvPr>
          <p:cNvPicPr>
            <a:picLocks noChangeAspect="1"/>
          </p:cNvPicPr>
          <p:nvPr/>
        </p:nvPicPr>
        <p:blipFill>
          <a:blip r:embed="rId2"/>
          <a:stretch>
            <a:fillRect/>
          </a:stretch>
        </p:blipFill>
        <p:spPr>
          <a:xfrm>
            <a:off x="676656" y="3145536"/>
            <a:ext cx="292608" cy="292608"/>
          </a:xfrm>
          <a:prstGeom prst="rect">
            <a:avLst/>
          </a:prstGeom>
        </p:spPr>
      </p:pic>
      <p:sp>
        <p:nvSpPr>
          <p:cNvPr id="9" name="Text 5"/>
          <p:cNvSpPr txBox="1"/>
          <p:nvPr/>
        </p:nvSpPr>
        <p:spPr>
          <a:xfrm>
            <a:off x="1280160" y="2971800"/>
            <a:ext cx="5120640" cy="868680"/>
          </a:xfrm>
          <a:prstGeom prst="rect">
            <a:avLst/>
          </a:prstGeom>
          <a:noFill/>
          <a:ln/>
        </p:spPr>
        <p:txBody>
          <a:bodyPr wrap="square" lIns="0" tIns="0" rIns="0" bIns="0" rtlCol="0" anchor="t"/>
          <a:lstStyle/>
          <a:p>
            <a:pPr indent="0" marL="0">
              <a:buNone/>
            </a:pPr>
            <a:r>
              <a:rPr lang="en-US" sz="1600" b="1" dirty="0">
                <a:solidFill>
                  <a:srgbClr val="1D2A2E"/>
                </a:solidFill>
              </a:rPr>
              <a:t>No view of the waiting room</a:t>
            </a:r>
            <a:endParaRPr lang="en-US" sz="1600" dirty="0"/>
          </a:p>
          <a:p>
            <a:pPr indent="0" marL="0">
              <a:buNone/>
            </a:pPr>
            <a:r>
              <a:rPr lang="en-US" sz="1400" dirty="0">
                <a:solidFill>
                  <a:srgbClr val="4B585C"/>
                </a:solidFill>
              </a:rPr>
              <a:t>Check-in, completion, cancellations and no-shows are tracked as a status workflow.</a:t>
            </a:r>
            <a:endParaRPr lang="en-US" sz="1600" dirty="0"/>
          </a:p>
        </p:txBody>
      </p:sp>
      <p:sp>
        <p:nvSpPr>
          <p:cNvPr id="10" name="Shape 6"/>
          <p:cNvSpPr/>
          <p:nvPr/>
        </p:nvSpPr>
        <p:spPr>
          <a:xfrm>
            <a:off x="548640" y="4114800"/>
            <a:ext cx="548640" cy="548640"/>
          </a:xfrm>
          <a:prstGeom prst="ellipse">
            <a:avLst/>
          </a:prstGeom>
          <a:solidFill>
            <a:srgbClr val="EEF4F4"/>
          </a:solidFill>
          <a:ln/>
        </p:spPr>
      </p:sp>
      <p:pic>
        <p:nvPicPr>
          <p:cNvPr id="11" name="Image 2" descr="preencoded.png">    </p:cNvPr>
          <p:cNvPicPr>
            <a:picLocks noChangeAspect="1"/>
          </p:cNvPicPr>
          <p:nvPr/>
        </p:nvPicPr>
        <p:blipFill>
          <a:blip r:embed="rId3"/>
          <a:stretch>
            <a:fillRect/>
          </a:stretch>
        </p:blipFill>
        <p:spPr>
          <a:xfrm>
            <a:off x="676656" y="4242816"/>
            <a:ext cx="292608" cy="292608"/>
          </a:xfrm>
          <a:prstGeom prst="rect">
            <a:avLst/>
          </a:prstGeom>
        </p:spPr>
      </p:pic>
      <p:sp>
        <p:nvSpPr>
          <p:cNvPr id="12" name="Text 7"/>
          <p:cNvSpPr txBox="1"/>
          <p:nvPr/>
        </p:nvSpPr>
        <p:spPr>
          <a:xfrm>
            <a:off x="1280160" y="4069080"/>
            <a:ext cx="5120640" cy="868680"/>
          </a:xfrm>
          <a:prstGeom prst="rect">
            <a:avLst/>
          </a:prstGeom>
          <a:noFill/>
          <a:ln/>
        </p:spPr>
        <p:txBody>
          <a:bodyPr wrap="square" lIns="0" tIns="0" rIns="0" bIns="0" rtlCol="0" anchor="t"/>
          <a:lstStyle/>
          <a:p>
            <a:pPr indent="0" marL="0">
              <a:buNone/>
            </a:pPr>
            <a:r>
              <a:rPr lang="en-US" sz="1600" b="1" dirty="0">
                <a:solidFill>
                  <a:srgbClr val="1D2A2E"/>
                </a:solidFill>
              </a:rPr>
              <a:t>Uneven doctor workload</a:t>
            </a:r>
            <a:endParaRPr lang="en-US" sz="1600" dirty="0"/>
          </a:p>
          <a:p>
            <a:pPr indent="0" marL="0">
              <a:buNone/>
            </a:pPr>
            <a:r>
              <a:rPr lang="en-US" sz="1400" dirty="0">
                <a:solidFill>
                  <a:srgbClr val="4B585C"/>
                </a:solidFill>
              </a:rPr>
              <a:t>A live workload panel shows upcoming visits per doctor; doctors can go off duty.</a:t>
            </a:r>
            <a:endParaRPr lang="en-US" sz="1600" dirty="0"/>
          </a:p>
        </p:txBody>
      </p:sp>
      <p:sp>
        <p:nvSpPr>
          <p:cNvPr id="13" name="Double-booking conflict screenshot frame"/>
          <p:cNvSpPr/>
          <p:nvPr/>
        </p:nvSpPr>
        <p:spPr>
          <a:xfrm>
            <a:off x="6583680" y="1828800"/>
            <a:ext cx="5029200" cy="3145536"/>
          </a:xfrm>
          <a:prstGeom prst="rect">
            <a:avLst/>
          </a:prstGeom>
          <a:solidFill>
            <a:srgbClr val="FFFFFF"/>
          </a:solidFill>
          <a:ln w="9525">
            <a:solidFill>
              <a:srgbClr val="D5DEDF"/>
            </a:solidFill>
            <a:prstDash val="solid"/>
          </a:ln>
          <a:effectLst>
            <a:outerShdw sx="100000" sy="100000" kx="0" ky="0" algn="bl" rotWithShape="0" blurRad="101600" dist="38100" dir="5400000">
              <a:srgbClr val="1D2A2E">
                <a:alpha val="18000"/>
              </a:srgbClr>
            </a:outerShdw>
          </a:effectLst>
        </p:spPr>
      </p:sp>
      <p:pic>
        <p:nvPicPr>
          <p:cNvPr id="14" name="Double-booking conflict screenshot" descr="/Users/navjeetsingh/projects/devsecops-python/demo/screenshots/02-app-double-booking-409.png">    </p:cNvPr>
          <p:cNvPicPr>
            <a:picLocks noChangeAspect="1"/>
          </p:cNvPicPr>
          <p:nvPr/>
        </p:nvPicPr>
        <p:blipFill>
          <a:blip r:embed="rId4"/>
          <a:stretch>
            <a:fillRect/>
          </a:stretch>
        </p:blipFill>
        <p:spPr>
          <a:xfrm>
            <a:off x="6620256" y="1865376"/>
            <a:ext cx="4956048" cy="3072384"/>
          </a:xfrm>
          <a:prstGeom prst="rect">
            <a:avLst/>
          </a:prstGeom>
        </p:spPr>
      </p:pic>
      <p:sp>
        <p:nvSpPr>
          <p:cNvPr id="15" name="Text 9"/>
          <p:cNvSpPr txBox="1"/>
          <p:nvPr/>
        </p:nvSpPr>
        <p:spPr>
          <a:xfrm>
            <a:off x="6583680" y="5074920"/>
            <a:ext cx="5029200" cy="320040"/>
          </a:xfrm>
          <a:prstGeom prst="rect">
            <a:avLst/>
          </a:prstGeom>
          <a:noFill/>
          <a:ln/>
        </p:spPr>
        <p:txBody>
          <a:bodyPr wrap="square" lIns="0" tIns="0" rIns="0" bIns="0" rtlCol="0" anchor="ctr"/>
          <a:lstStyle/>
          <a:p>
            <a:pPr indent="0" marL="0">
              <a:buNone/>
            </a:pPr>
            <a:r>
              <a:rPr lang="en-US" sz="1200" i="1" dirty="0">
                <a:solidFill>
                  <a:srgbClr val="5F6B6E"/>
                </a:solidFill>
              </a:rPr>
              <a:t>The booking form rejects a slot that overlaps an existing visit</a:t>
            </a:r>
            <a:endParaRPr lang="en-US" sz="12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F3D47"/>
                </a:solidFill>
                <a:latin typeface="Arial" pitchFamily="34" charset="0"/>
                <a:ea typeface="Arial" pitchFamily="34" charset="-122"/>
                <a:cs typeface="Arial" pitchFamily="34" charset="-120"/>
              </a:rPr>
              <a:t>The application: React, FastAPI, PostgreSQL</a:t>
            </a:r>
            <a:endParaRPr lang="en-US" sz="3000" dirty="0"/>
          </a:p>
        </p:txBody>
      </p:sp>
      <p:sp>
        <p:nvSpPr>
          <p:cNvPr id="3" name="Text 1"/>
          <p:cNvSpPr txBox="1"/>
          <p:nvPr/>
        </p:nvSpPr>
        <p:spPr>
          <a:xfrm>
            <a:off x="548640" y="1371600"/>
            <a:ext cx="1828800" cy="82296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16</a:t>
            </a:r>
            <a:endParaRPr lang="en-US" sz="4800" dirty="0"/>
          </a:p>
        </p:txBody>
      </p:sp>
      <p:sp>
        <p:nvSpPr>
          <p:cNvPr id="4" name="Text 2"/>
          <p:cNvSpPr txBox="1"/>
          <p:nvPr/>
        </p:nvSpPr>
        <p:spPr>
          <a:xfrm>
            <a:off x="548640" y="2194560"/>
            <a:ext cx="1783080" cy="822960"/>
          </a:xfrm>
          <a:prstGeom prst="rect">
            <a:avLst/>
          </a:prstGeom>
          <a:noFill/>
          <a:ln/>
        </p:spPr>
        <p:txBody>
          <a:bodyPr wrap="square" lIns="0" tIns="0" rIns="0" bIns="0" rtlCol="0" anchor="t"/>
          <a:lstStyle/>
          <a:p>
            <a:pPr indent="0" marL="0">
              <a:buNone/>
            </a:pPr>
            <a:r>
              <a:rPr lang="en-US" sz="1300" dirty="0">
                <a:solidFill>
                  <a:srgbClr val="4B585C"/>
                </a:solidFill>
              </a:rPr>
              <a:t>REST endpoints across doctors, patients, appointments</a:t>
            </a:r>
            <a:endParaRPr lang="en-US" sz="1300" dirty="0"/>
          </a:p>
        </p:txBody>
      </p:sp>
      <p:sp>
        <p:nvSpPr>
          <p:cNvPr id="5" name="Text 3"/>
          <p:cNvSpPr txBox="1"/>
          <p:nvPr/>
        </p:nvSpPr>
        <p:spPr>
          <a:xfrm>
            <a:off x="2514600" y="1371600"/>
            <a:ext cx="1828800" cy="82296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21</a:t>
            </a:r>
            <a:endParaRPr lang="en-US" sz="4800" dirty="0"/>
          </a:p>
        </p:txBody>
      </p:sp>
      <p:sp>
        <p:nvSpPr>
          <p:cNvPr id="6" name="Text 4"/>
          <p:cNvSpPr txBox="1"/>
          <p:nvPr/>
        </p:nvSpPr>
        <p:spPr>
          <a:xfrm>
            <a:off x="2514600" y="2194560"/>
            <a:ext cx="1783080" cy="822960"/>
          </a:xfrm>
          <a:prstGeom prst="rect">
            <a:avLst/>
          </a:prstGeom>
          <a:noFill/>
          <a:ln/>
        </p:spPr>
        <p:txBody>
          <a:bodyPr wrap="square" lIns="0" tIns="0" rIns="0" bIns="0" rtlCol="0" anchor="t"/>
          <a:lstStyle/>
          <a:p>
            <a:pPr indent="0" marL="0">
              <a:buNone/>
            </a:pPr>
            <a:r>
              <a:rPr lang="en-US" sz="1300" dirty="0">
                <a:solidFill>
                  <a:srgbClr val="4B585C"/>
                </a:solidFill>
              </a:rPr>
              <a:t>pytest cases, 94% line coverage</a:t>
            </a:r>
            <a:endParaRPr lang="en-US" sz="1300" dirty="0"/>
          </a:p>
        </p:txBody>
      </p:sp>
      <p:sp>
        <p:nvSpPr>
          <p:cNvPr id="7" name="Text 5"/>
          <p:cNvSpPr txBox="1"/>
          <p:nvPr/>
        </p:nvSpPr>
        <p:spPr>
          <a:xfrm>
            <a:off x="4480560" y="1371600"/>
            <a:ext cx="1828800" cy="822960"/>
          </a:xfrm>
          <a:prstGeom prst="rect">
            <a:avLst/>
          </a:prstGeom>
          <a:noFill/>
          <a:ln/>
        </p:spPr>
        <p:txBody>
          <a:bodyPr wrap="square" lIns="0" tIns="0" rIns="0" bIns="0" rtlCol="0" anchor="ctr"/>
          <a:lstStyle/>
          <a:p>
            <a:pPr indent="0" marL="0">
              <a:buNone/>
            </a:pPr>
            <a:r>
              <a:rPr lang="en-US" sz="4800" b="1" dirty="0">
                <a:solidFill>
                  <a:schemeClr val="accent1"/>
                </a:solidFill>
                <a:latin typeface="Arial" pitchFamily="34" charset="0"/>
                <a:ea typeface="Arial" pitchFamily="34" charset="-122"/>
                <a:cs typeface="Arial" pitchFamily="34" charset="-120"/>
              </a:rPr>
              <a:t>5</a:t>
            </a:r>
            <a:endParaRPr lang="en-US" sz="4800" dirty="0"/>
          </a:p>
        </p:txBody>
      </p:sp>
      <p:sp>
        <p:nvSpPr>
          <p:cNvPr id="8" name="Text 6"/>
          <p:cNvSpPr txBox="1"/>
          <p:nvPr/>
        </p:nvSpPr>
        <p:spPr>
          <a:xfrm>
            <a:off x="4480560" y="2194560"/>
            <a:ext cx="1783080" cy="822960"/>
          </a:xfrm>
          <a:prstGeom prst="rect">
            <a:avLst/>
          </a:prstGeom>
          <a:noFill/>
          <a:ln/>
        </p:spPr>
        <p:txBody>
          <a:bodyPr wrap="square" lIns="0" tIns="0" rIns="0" bIns="0" rtlCol="0" anchor="t"/>
          <a:lstStyle/>
          <a:p>
            <a:pPr indent="0" marL="0">
              <a:buNone/>
            </a:pPr>
            <a:r>
              <a:rPr lang="en-US" sz="1300" dirty="0">
                <a:solidFill>
                  <a:srgbClr val="4B585C"/>
                </a:solidFill>
              </a:rPr>
              <a:t>appointment states with enforced transitions</a:t>
            </a:r>
            <a:endParaRPr lang="en-US" sz="1300" dirty="0"/>
          </a:p>
        </p:txBody>
      </p:sp>
      <p:sp>
        <p:nvSpPr>
          <p:cNvPr id="9" name="Text 7"/>
          <p:cNvSpPr txBox="1"/>
          <p:nvPr/>
        </p:nvSpPr>
        <p:spPr>
          <a:xfrm>
            <a:off x="548640" y="3291840"/>
            <a:ext cx="566928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D2A2E"/>
                </a:solidFill>
              </a:rPr>
              <a:t>SCHEDULED → CHECKED_IN → COMPLETED; cancel or mark no-show along the way</a:t>
            </a:r>
            <a:endParaRPr lang="en-US" sz="1500" dirty="0"/>
          </a:p>
          <a:p>
            <a:pPr marL="342900" indent="-342900">
              <a:spcAft>
                <a:spcPts val="800"/>
              </a:spcAft>
              <a:buSzPct val="100000"/>
              <a:buChar char="•"/>
            </a:pPr>
            <a:r>
              <a:rPr lang="en-US" sz="1500" dirty="0">
                <a:solidFill>
                  <a:srgbClr val="1D2A2E"/>
                </a:solidFill>
              </a:rPr>
              <a:t>Overlapping bookings for a doctor return 409 with the clashing visit</a:t>
            </a:r>
            <a:endParaRPr lang="en-US" sz="1500" dirty="0"/>
          </a:p>
          <a:p>
            <a:pPr marL="342900" indent="-342900">
              <a:spcAft>
                <a:spcPts val="800"/>
              </a:spcAft>
              <a:buSzPct val="100000"/>
              <a:buChar char="•"/>
            </a:pPr>
            <a:r>
              <a:rPr lang="en-US" sz="1500" dirty="0">
                <a:solidFill>
                  <a:srgbClr val="1D2A2E"/>
                </a:solidFill>
              </a:rPr>
              <a:t>Alembic owns the schema; demo data seeded behind a Postgres advisory lock</a:t>
            </a:r>
            <a:endParaRPr lang="en-US" sz="1500" dirty="0"/>
          </a:p>
          <a:p>
            <a:pPr marL="342900" indent="-342900">
              <a:spcAft>
                <a:spcPts val="800"/>
              </a:spcAft>
              <a:buSzPct val="100000"/>
              <a:buChar char="•"/>
            </a:pPr>
            <a:r>
              <a:rPr lang="en-US" sz="1500" dirty="0">
                <a:solidFill>
                  <a:srgbClr val="1D2A2E"/>
                </a:solidFill>
              </a:rPr>
              <a:t>/health (liveness), /ready (DB check), /metrics (Prometheus) for Kubernetes</a:t>
            </a:r>
            <a:endParaRPr lang="en-US" sz="1500" dirty="0"/>
          </a:p>
        </p:txBody>
      </p:sp>
      <p:sp>
        <p:nvSpPr>
          <p:cNvPr id="10" name="Schedule view frame"/>
          <p:cNvSpPr/>
          <p:nvPr/>
        </p:nvSpPr>
        <p:spPr>
          <a:xfrm>
            <a:off x="6583680" y="1325880"/>
            <a:ext cx="5029200" cy="3145536"/>
          </a:xfrm>
          <a:prstGeom prst="rect">
            <a:avLst/>
          </a:prstGeom>
          <a:solidFill>
            <a:srgbClr val="FFFFFF"/>
          </a:solidFill>
          <a:ln w="9525">
            <a:solidFill>
              <a:srgbClr val="D5DEDF"/>
            </a:solidFill>
            <a:prstDash val="solid"/>
          </a:ln>
          <a:effectLst>
            <a:outerShdw sx="100000" sy="100000" kx="0" ky="0" algn="bl" rotWithShape="0" blurRad="101600" dist="38100" dir="5400000">
              <a:srgbClr val="1D2A2E">
                <a:alpha val="18000"/>
              </a:srgbClr>
            </a:outerShdw>
          </a:effectLst>
        </p:spPr>
      </p:sp>
      <p:pic>
        <p:nvPicPr>
          <p:cNvPr id="11" name="Schedule view" descr="/Users/navjeetsingh/projects/devsecops-python/demo/screenshots/01-app-schedule-ingress.png">    </p:cNvPr>
          <p:cNvPicPr>
            <a:picLocks noChangeAspect="1"/>
          </p:cNvPicPr>
          <p:nvPr/>
        </p:nvPicPr>
        <p:blipFill>
          <a:blip r:embed="rId1"/>
          <a:stretch>
            <a:fillRect/>
          </a:stretch>
        </p:blipFill>
        <p:spPr>
          <a:xfrm>
            <a:off x="6620256" y="1362456"/>
            <a:ext cx="4956048" cy="3072384"/>
          </a:xfrm>
          <a:prstGeom prst="rect">
            <a:avLst/>
          </a:prstGeom>
        </p:spPr>
      </p:pic>
      <p:sp>
        <p:nvSpPr>
          <p:cNvPr id="12" name="Swagger docs frame"/>
          <p:cNvSpPr/>
          <p:nvPr/>
        </p:nvSpPr>
        <p:spPr>
          <a:xfrm>
            <a:off x="8229600" y="3749040"/>
            <a:ext cx="3383280" cy="2112264"/>
          </a:xfrm>
          <a:prstGeom prst="rect">
            <a:avLst/>
          </a:prstGeom>
          <a:solidFill>
            <a:srgbClr val="FFFFFF"/>
          </a:solidFill>
          <a:ln w="9525">
            <a:solidFill>
              <a:srgbClr val="D5DEDF"/>
            </a:solidFill>
            <a:prstDash val="solid"/>
          </a:ln>
          <a:effectLst>
            <a:outerShdw sx="100000" sy="100000" kx="0" ky="0" algn="bl" rotWithShape="0" blurRad="101600" dist="38100" dir="5400000">
              <a:srgbClr val="1D2A2E">
                <a:alpha val="18000"/>
              </a:srgbClr>
            </a:outerShdw>
          </a:effectLst>
        </p:spPr>
      </p:sp>
      <p:pic>
        <p:nvPicPr>
          <p:cNvPr id="13" name="Swagger docs" descr="/Users/navjeetsingh/projects/devsecops-python/demo/screenshots/06-swagger-docs.png">    </p:cNvPr>
          <p:cNvPicPr>
            <a:picLocks noChangeAspect="1"/>
          </p:cNvPicPr>
          <p:nvPr/>
        </p:nvPicPr>
        <p:blipFill>
          <a:blip r:embed="rId2"/>
          <a:stretch>
            <a:fillRect/>
          </a:stretch>
        </p:blipFill>
        <p:spPr>
          <a:xfrm>
            <a:off x="8266176" y="3785616"/>
            <a:ext cx="3310128" cy="2039112"/>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F3D47"/>
                </a:solidFill>
                <a:latin typeface="Arial" pitchFamily="34" charset="0"/>
                <a:ea typeface="Arial" pitchFamily="34" charset="-122"/>
                <a:cs typeface="Arial" pitchFamily="34" charset="-120"/>
              </a:rPr>
              <a:t>Tech stack</a:t>
            </a:r>
            <a:endParaRPr lang="en-US" sz="3000" dirty="0"/>
          </a:p>
        </p:txBody>
      </p:sp>
      <p:sp>
        <p:nvSpPr>
          <p:cNvPr id="3" name="Shape 1"/>
          <p:cNvSpPr/>
          <p:nvPr/>
        </p:nvSpPr>
        <p:spPr>
          <a:xfrm>
            <a:off x="548640" y="1371600"/>
            <a:ext cx="548640" cy="548640"/>
          </a:xfrm>
          <a:prstGeom prst="ellipse">
            <a:avLst/>
          </a:prstGeom>
          <a:solidFill>
            <a:srgbClr val="EEF4F4"/>
          </a:solidFill>
          <a:ln/>
        </p:spPr>
      </p:sp>
      <p:pic>
        <p:nvPicPr>
          <p:cNvPr id="4" name="Image 0" descr="preencoded.png">    </p:cNvPr>
          <p:cNvPicPr>
            <a:picLocks noChangeAspect="1"/>
          </p:cNvPicPr>
          <p:nvPr/>
        </p:nvPicPr>
        <p:blipFill>
          <a:blip r:embed="rId1"/>
          <a:stretch>
            <a:fillRect/>
          </a:stretch>
        </p:blipFill>
        <p:spPr>
          <a:xfrm>
            <a:off x="676656" y="1499616"/>
            <a:ext cx="292608" cy="292608"/>
          </a:xfrm>
          <a:prstGeom prst="rect">
            <a:avLst/>
          </a:prstGeom>
        </p:spPr>
      </p:pic>
      <p:sp>
        <p:nvSpPr>
          <p:cNvPr id="5" name="Text 2"/>
          <p:cNvSpPr txBox="1"/>
          <p:nvPr/>
        </p:nvSpPr>
        <p:spPr>
          <a:xfrm>
            <a:off x="1280160" y="1325880"/>
            <a:ext cx="4572000" cy="868680"/>
          </a:xfrm>
          <a:prstGeom prst="rect">
            <a:avLst/>
          </a:prstGeom>
          <a:noFill/>
          <a:ln/>
        </p:spPr>
        <p:txBody>
          <a:bodyPr wrap="square" lIns="0" tIns="0" rIns="0" bIns="0" rtlCol="0" anchor="t"/>
          <a:lstStyle/>
          <a:p>
            <a:pPr indent="0" marL="0">
              <a:buNone/>
            </a:pPr>
            <a:r>
              <a:rPr lang="en-US" sz="1600" b="1" dirty="0">
                <a:solidFill>
                  <a:srgbClr val="1D2A2E"/>
                </a:solidFill>
              </a:rPr>
              <a:t>Application</a:t>
            </a:r>
            <a:endParaRPr lang="en-US" sz="1600" dirty="0"/>
          </a:p>
          <a:p>
            <a:pPr indent="0" marL="0">
              <a:buNone/>
            </a:pPr>
            <a:r>
              <a:rPr lang="en-US" sz="1400" dirty="0">
                <a:solidFill>
                  <a:srgbClr val="4B585C"/>
                </a:solidFill>
              </a:rPr>
              <a:t>React 19 · Vite · FastAPI · SQLAlchemy · Alembic · Postgres 16</a:t>
            </a:r>
            <a:endParaRPr lang="en-US" sz="1600" dirty="0"/>
          </a:p>
        </p:txBody>
      </p:sp>
      <p:sp>
        <p:nvSpPr>
          <p:cNvPr id="6" name="Shape 3"/>
          <p:cNvSpPr/>
          <p:nvPr/>
        </p:nvSpPr>
        <p:spPr>
          <a:xfrm>
            <a:off x="6309360" y="1371600"/>
            <a:ext cx="548640" cy="548640"/>
          </a:xfrm>
          <a:prstGeom prst="ellipse">
            <a:avLst/>
          </a:prstGeom>
          <a:solidFill>
            <a:srgbClr val="EEF4F4"/>
          </a:solidFill>
          <a:ln/>
        </p:spPr>
      </p:sp>
      <p:pic>
        <p:nvPicPr>
          <p:cNvPr id="7" name="Image 1" descr="preencoded.png">    </p:cNvPr>
          <p:cNvPicPr>
            <a:picLocks noChangeAspect="1"/>
          </p:cNvPicPr>
          <p:nvPr/>
        </p:nvPicPr>
        <p:blipFill>
          <a:blip r:embed="rId2"/>
          <a:stretch>
            <a:fillRect/>
          </a:stretch>
        </p:blipFill>
        <p:spPr>
          <a:xfrm>
            <a:off x="6437376" y="1499616"/>
            <a:ext cx="292608" cy="292608"/>
          </a:xfrm>
          <a:prstGeom prst="rect">
            <a:avLst/>
          </a:prstGeom>
        </p:spPr>
      </p:pic>
      <p:sp>
        <p:nvSpPr>
          <p:cNvPr id="8" name="Text 4"/>
          <p:cNvSpPr txBox="1"/>
          <p:nvPr/>
        </p:nvSpPr>
        <p:spPr>
          <a:xfrm>
            <a:off x="7040880" y="1325880"/>
            <a:ext cx="4572000" cy="868680"/>
          </a:xfrm>
          <a:prstGeom prst="rect">
            <a:avLst/>
          </a:prstGeom>
          <a:noFill/>
          <a:ln/>
        </p:spPr>
        <p:txBody>
          <a:bodyPr wrap="square" lIns="0" tIns="0" rIns="0" bIns="0" rtlCol="0" anchor="t"/>
          <a:lstStyle/>
          <a:p>
            <a:pPr indent="0" marL="0">
              <a:buNone/>
            </a:pPr>
            <a:r>
              <a:rPr lang="en-US" sz="1600" b="1" dirty="0">
                <a:solidFill>
                  <a:srgbClr val="1D2A2E"/>
                </a:solidFill>
              </a:rPr>
              <a:t>Quality</a:t>
            </a:r>
            <a:endParaRPr lang="en-US" sz="1600" dirty="0"/>
          </a:p>
          <a:p>
            <a:pPr indent="0" marL="0">
              <a:buNone/>
            </a:pPr>
            <a:r>
              <a:rPr lang="en-US" sz="1400" dirty="0">
                <a:solidFill>
                  <a:srgbClr val="4B585C"/>
                </a:solidFill>
              </a:rPr>
              <a:t>pytest · pytest-cov · Ruff lint + format</a:t>
            </a:r>
            <a:endParaRPr lang="en-US" sz="1600" dirty="0"/>
          </a:p>
        </p:txBody>
      </p:sp>
      <p:sp>
        <p:nvSpPr>
          <p:cNvPr id="9" name="Shape 5"/>
          <p:cNvSpPr/>
          <p:nvPr/>
        </p:nvSpPr>
        <p:spPr>
          <a:xfrm>
            <a:off x="548640" y="2560320"/>
            <a:ext cx="548640" cy="548640"/>
          </a:xfrm>
          <a:prstGeom prst="ellipse">
            <a:avLst/>
          </a:prstGeom>
          <a:solidFill>
            <a:srgbClr val="EEF4F4"/>
          </a:solidFill>
          <a:ln/>
        </p:spPr>
      </p:sp>
      <p:pic>
        <p:nvPicPr>
          <p:cNvPr id="10" name="Image 2" descr="preencoded.png">    </p:cNvPr>
          <p:cNvPicPr>
            <a:picLocks noChangeAspect="1"/>
          </p:cNvPicPr>
          <p:nvPr/>
        </p:nvPicPr>
        <p:blipFill>
          <a:blip r:embed="rId3"/>
          <a:stretch>
            <a:fillRect/>
          </a:stretch>
        </p:blipFill>
        <p:spPr>
          <a:xfrm>
            <a:off x="676656" y="2688336"/>
            <a:ext cx="292608" cy="292608"/>
          </a:xfrm>
          <a:prstGeom prst="rect">
            <a:avLst/>
          </a:prstGeom>
        </p:spPr>
      </p:pic>
      <p:sp>
        <p:nvSpPr>
          <p:cNvPr id="11" name="Text 6"/>
          <p:cNvSpPr txBox="1"/>
          <p:nvPr/>
        </p:nvSpPr>
        <p:spPr>
          <a:xfrm>
            <a:off x="1280160" y="2514600"/>
            <a:ext cx="4572000" cy="868680"/>
          </a:xfrm>
          <a:prstGeom prst="rect">
            <a:avLst/>
          </a:prstGeom>
          <a:noFill/>
          <a:ln/>
        </p:spPr>
        <p:txBody>
          <a:bodyPr wrap="square" lIns="0" tIns="0" rIns="0" bIns="0" rtlCol="0" anchor="t"/>
          <a:lstStyle/>
          <a:p>
            <a:pPr indent="0" marL="0">
              <a:buNone/>
            </a:pPr>
            <a:r>
              <a:rPr lang="en-US" sz="1600" b="1" dirty="0">
                <a:solidFill>
                  <a:srgbClr val="1D2A2E"/>
                </a:solidFill>
              </a:rPr>
              <a:t>Containers</a:t>
            </a:r>
            <a:endParaRPr lang="en-US" sz="1600" dirty="0"/>
          </a:p>
          <a:p>
            <a:pPr indent="0" marL="0">
              <a:buNone/>
            </a:pPr>
            <a:r>
              <a:rPr lang="en-US" sz="1400" dirty="0">
                <a:solidFill>
                  <a:srgbClr val="4B585C"/>
                </a:solidFill>
              </a:rPr>
              <a:t>Multi-stage Docker · Compose · nginx-unprivileged · non-root</a:t>
            </a:r>
            <a:endParaRPr lang="en-US" sz="1600" dirty="0"/>
          </a:p>
        </p:txBody>
      </p:sp>
      <p:sp>
        <p:nvSpPr>
          <p:cNvPr id="12" name="Shape 7"/>
          <p:cNvSpPr/>
          <p:nvPr/>
        </p:nvSpPr>
        <p:spPr>
          <a:xfrm>
            <a:off x="6309360" y="2560320"/>
            <a:ext cx="548640" cy="548640"/>
          </a:xfrm>
          <a:prstGeom prst="ellipse">
            <a:avLst/>
          </a:prstGeom>
          <a:solidFill>
            <a:srgbClr val="EEF4F4"/>
          </a:solidFill>
          <a:ln/>
        </p:spPr>
      </p:sp>
      <p:pic>
        <p:nvPicPr>
          <p:cNvPr id="13" name="Image 3" descr="preencoded.png">    </p:cNvPr>
          <p:cNvPicPr>
            <a:picLocks noChangeAspect="1"/>
          </p:cNvPicPr>
          <p:nvPr/>
        </p:nvPicPr>
        <p:blipFill>
          <a:blip r:embed="rId4"/>
          <a:stretch>
            <a:fillRect/>
          </a:stretch>
        </p:blipFill>
        <p:spPr>
          <a:xfrm>
            <a:off x="6437376" y="2688336"/>
            <a:ext cx="292608" cy="292608"/>
          </a:xfrm>
          <a:prstGeom prst="rect">
            <a:avLst/>
          </a:prstGeom>
        </p:spPr>
      </p:pic>
      <p:sp>
        <p:nvSpPr>
          <p:cNvPr id="14" name="Text 8"/>
          <p:cNvSpPr txBox="1"/>
          <p:nvPr/>
        </p:nvSpPr>
        <p:spPr>
          <a:xfrm>
            <a:off x="7040880" y="2514600"/>
            <a:ext cx="4572000" cy="868680"/>
          </a:xfrm>
          <a:prstGeom prst="rect">
            <a:avLst/>
          </a:prstGeom>
          <a:noFill/>
          <a:ln/>
        </p:spPr>
        <p:txBody>
          <a:bodyPr wrap="square" lIns="0" tIns="0" rIns="0" bIns="0" rtlCol="0" anchor="t"/>
          <a:lstStyle/>
          <a:p>
            <a:pPr indent="0" marL="0">
              <a:buNone/>
            </a:pPr>
            <a:r>
              <a:rPr lang="en-US" sz="1600" b="1" dirty="0">
                <a:solidFill>
                  <a:srgbClr val="1D2A2E"/>
                </a:solidFill>
              </a:rPr>
              <a:t>CI/CD</a:t>
            </a:r>
            <a:endParaRPr lang="en-US" sz="1600" dirty="0"/>
          </a:p>
          <a:p>
            <a:pPr indent="0" marL="0">
              <a:buNone/>
            </a:pPr>
            <a:r>
              <a:rPr lang="en-US" sz="1400" dirty="0">
                <a:solidFill>
                  <a:srgbClr val="4B585C"/>
                </a:solidFill>
              </a:rPr>
              <a:t>GitHub Actions · GHCR · SHA-tagged images · kind smoke test</a:t>
            </a:r>
            <a:endParaRPr lang="en-US" sz="1600" dirty="0"/>
          </a:p>
        </p:txBody>
      </p:sp>
      <p:sp>
        <p:nvSpPr>
          <p:cNvPr id="15" name="Shape 9"/>
          <p:cNvSpPr/>
          <p:nvPr/>
        </p:nvSpPr>
        <p:spPr>
          <a:xfrm>
            <a:off x="548640" y="3749040"/>
            <a:ext cx="548640" cy="548640"/>
          </a:xfrm>
          <a:prstGeom prst="ellipse">
            <a:avLst/>
          </a:prstGeom>
          <a:solidFill>
            <a:srgbClr val="EEF4F4"/>
          </a:solidFill>
          <a:ln/>
        </p:spPr>
      </p:sp>
      <p:pic>
        <p:nvPicPr>
          <p:cNvPr id="16" name="Image 4" descr="preencoded.png">    </p:cNvPr>
          <p:cNvPicPr>
            <a:picLocks noChangeAspect="1"/>
          </p:cNvPicPr>
          <p:nvPr/>
        </p:nvPicPr>
        <p:blipFill>
          <a:blip r:embed="rId5"/>
          <a:stretch>
            <a:fillRect/>
          </a:stretch>
        </p:blipFill>
        <p:spPr>
          <a:xfrm>
            <a:off x="676656" y="3877056"/>
            <a:ext cx="292608" cy="292608"/>
          </a:xfrm>
          <a:prstGeom prst="rect">
            <a:avLst/>
          </a:prstGeom>
        </p:spPr>
      </p:pic>
      <p:sp>
        <p:nvSpPr>
          <p:cNvPr id="17" name="Text 10"/>
          <p:cNvSpPr txBox="1"/>
          <p:nvPr/>
        </p:nvSpPr>
        <p:spPr>
          <a:xfrm>
            <a:off x="1280160" y="3703320"/>
            <a:ext cx="4572000" cy="868680"/>
          </a:xfrm>
          <a:prstGeom prst="rect">
            <a:avLst/>
          </a:prstGeom>
          <a:noFill/>
          <a:ln/>
        </p:spPr>
        <p:txBody>
          <a:bodyPr wrap="square" lIns="0" tIns="0" rIns="0" bIns="0" rtlCol="0" anchor="t"/>
          <a:lstStyle/>
          <a:p>
            <a:pPr indent="0" marL="0">
              <a:buNone/>
            </a:pPr>
            <a:r>
              <a:rPr lang="en-US" sz="1600" b="1" dirty="0">
                <a:solidFill>
                  <a:srgbClr val="1D2A2E"/>
                </a:solidFill>
              </a:rPr>
              <a:t>Security</a:t>
            </a:r>
            <a:endParaRPr lang="en-US" sz="1600" dirty="0"/>
          </a:p>
          <a:p>
            <a:pPr indent="0" marL="0">
              <a:buNone/>
            </a:pPr>
            <a:r>
              <a:rPr lang="en-US" sz="1400" dirty="0">
                <a:solidFill>
                  <a:srgbClr val="4B585C"/>
                </a:solidFill>
              </a:rPr>
              <a:t>Trivy image, secret and IaC scans · SARIF · Pod Security</a:t>
            </a:r>
            <a:endParaRPr lang="en-US" sz="1600" dirty="0"/>
          </a:p>
        </p:txBody>
      </p:sp>
      <p:sp>
        <p:nvSpPr>
          <p:cNvPr id="18" name="Shape 11"/>
          <p:cNvSpPr/>
          <p:nvPr/>
        </p:nvSpPr>
        <p:spPr>
          <a:xfrm>
            <a:off x="6309360" y="3749040"/>
            <a:ext cx="548640" cy="548640"/>
          </a:xfrm>
          <a:prstGeom prst="ellipse">
            <a:avLst/>
          </a:prstGeom>
          <a:solidFill>
            <a:srgbClr val="EEF4F4"/>
          </a:solidFill>
          <a:ln/>
        </p:spPr>
      </p:sp>
      <p:pic>
        <p:nvPicPr>
          <p:cNvPr id="19" name="Image 5" descr="preencoded.png">    </p:cNvPr>
          <p:cNvPicPr>
            <a:picLocks noChangeAspect="1"/>
          </p:cNvPicPr>
          <p:nvPr/>
        </p:nvPicPr>
        <p:blipFill>
          <a:blip r:embed="rId6"/>
          <a:stretch>
            <a:fillRect/>
          </a:stretch>
        </p:blipFill>
        <p:spPr>
          <a:xfrm>
            <a:off x="6437376" y="3877056"/>
            <a:ext cx="292608" cy="292608"/>
          </a:xfrm>
          <a:prstGeom prst="rect">
            <a:avLst/>
          </a:prstGeom>
        </p:spPr>
      </p:pic>
      <p:sp>
        <p:nvSpPr>
          <p:cNvPr id="20" name="Text 12"/>
          <p:cNvSpPr txBox="1"/>
          <p:nvPr/>
        </p:nvSpPr>
        <p:spPr>
          <a:xfrm>
            <a:off x="7040880" y="3703320"/>
            <a:ext cx="4572000" cy="868680"/>
          </a:xfrm>
          <a:prstGeom prst="rect">
            <a:avLst/>
          </a:prstGeom>
          <a:noFill/>
          <a:ln/>
        </p:spPr>
        <p:txBody>
          <a:bodyPr wrap="square" lIns="0" tIns="0" rIns="0" bIns="0" rtlCol="0" anchor="t"/>
          <a:lstStyle/>
          <a:p>
            <a:pPr indent="0" marL="0">
              <a:buNone/>
            </a:pPr>
            <a:r>
              <a:rPr lang="en-US" sz="1600" b="1" dirty="0">
                <a:solidFill>
                  <a:srgbClr val="1D2A2E"/>
                </a:solidFill>
              </a:rPr>
              <a:t>Infrastructure</a:t>
            </a:r>
            <a:endParaRPr lang="en-US" sz="1600" dirty="0"/>
          </a:p>
          <a:p>
            <a:pPr indent="0" marL="0">
              <a:buNone/>
            </a:pPr>
            <a:r>
              <a:rPr lang="en-US" sz="1400" dirty="0">
                <a:solidFill>
                  <a:srgbClr val="4B585C"/>
                </a:solidFill>
              </a:rPr>
              <a:t>Terraform modules · AWS VPC · EKS · IAM · KMS</a:t>
            </a:r>
            <a:endParaRPr lang="en-US" sz="1600" dirty="0"/>
          </a:p>
        </p:txBody>
      </p:sp>
      <p:sp>
        <p:nvSpPr>
          <p:cNvPr id="21" name="Shape 13"/>
          <p:cNvSpPr/>
          <p:nvPr/>
        </p:nvSpPr>
        <p:spPr>
          <a:xfrm>
            <a:off x="548640" y="4937760"/>
            <a:ext cx="548640" cy="548640"/>
          </a:xfrm>
          <a:prstGeom prst="ellipse">
            <a:avLst/>
          </a:prstGeom>
          <a:solidFill>
            <a:srgbClr val="EEF4F4"/>
          </a:solidFill>
          <a:ln/>
        </p:spPr>
      </p:sp>
      <p:pic>
        <p:nvPicPr>
          <p:cNvPr id="22" name="Image 6" descr="preencoded.png">    </p:cNvPr>
          <p:cNvPicPr>
            <a:picLocks noChangeAspect="1"/>
          </p:cNvPicPr>
          <p:nvPr/>
        </p:nvPicPr>
        <p:blipFill>
          <a:blip r:embed="rId7"/>
          <a:stretch>
            <a:fillRect/>
          </a:stretch>
        </p:blipFill>
        <p:spPr>
          <a:xfrm>
            <a:off x="676656" y="5065776"/>
            <a:ext cx="292608" cy="292608"/>
          </a:xfrm>
          <a:prstGeom prst="rect">
            <a:avLst/>
          </a:prstGeom>
        </p:spPr>
      </p:pic>
      <p:sp>
        <p:nvSpPr>
          <p:cNvPr id="23" name="Text 14"/>
          <p:cNvSpPr txBox="1"/>
          <p:nvPr/>
        </p:nvSpPr>
        <p:spPr>
          <a:xfrm>
            <a:off x="1280160" y="4892040"/>
            <a:ext cx="4572000" cy="868680"/>
          </a:xfrm>
          <a:prstGeom prst="rect">
            <a:avLst/>
          </a:prstGeom>
          <a:noFill/>
          <a:ln/>
        </p:spPr>
        <p:txBody>
          <a:bodyPr wrap="square" lIns="0" tIns="0" rIns="0" bIns="0" rtlCol="0" anchor="t"/>
          <a:lstStyle/>
          <a:p>
            <a:pPr indent="0" marL="0">
              <a:buNone/>
            </a:pPr>
            <a:r>
              <a:rPr lang="en-US" sz="1600" b="1" dirty="0">
                <a:solidFill>
                  <a:srgbClr val="1D2A2E"/>
                </a:solidFill>
              </a:rPr>
              <a:t>Kubernetes</a:t>
            </a:r>
            <a:endParaRPr lang="en-US" sz="1600" dirty="0"/>
          </a:p>
          <a:p>
            <a:pPr indent="0" marL="0">
              <a:buNone/>
            </a:pPr>
            <a:r>
              <a:rPr lang="en-US" sz="1400" dirty="0">
                <a:solidFill>
                  <a:srgbClr val="4B585C"/>
                </a:solidFill>
              </a:rPr>
              <a:t>Helm 3 · ingress-nginx · HPA · Argo CD (GitOps)</a:t>
            </a:r>
            <a:endParaRPr lang="en-US" sz="1600" dirty="0"/>
          </a:p>
        </p:txBody>
      </p:sp>
      <p:sp>
        <p:nvSpPr>
          <p:cNvPr id="24" name="Shape 15"/>
          <p:cNvSpPr/>
          <p:nvPr/>
        </p:nvSpPr>
        <p:spPr>
          <a:xfrm>
            <a:off x="6309360" y="4937760"/>
            <a:ext cx="548640" cy="548640"/>
          </a:xfrm>
          <a:prstGeom prst="ellipse">
            <a:avLst/>
          </a:prstGeom>
          <a:solidFill>
            <a:srgbClr val="EEF4F4"/>
          </a:solidFill>
          <a:ln/>
        </p:spPr>
      </p:sp>
      <p:pic>
        <p:nvPicPr>
          <p:cNvPr id="25" name="Image 7" descr="preencoded.png">    </p:cNvPr>
          <p:cNvPicPr>
            <a:picLocks noChangeAspect="1"/>
          </p:cNvPicPr>
          <p:nvPr/>
        </p:nvPicPr>
        <p:blipFill>
          <a:blip r:embed="rId8"/>
          <a:stretch>
            <a:fillRect/>
          </a:stretch>
        </p:blipFill>
        <p:spPr>
          <a:xfrm>
            <a:off x="6437376" y="5065776"/>
            <a:ext cx="292608" cy="292608"/>
          </a:xfrm>
          <a:prstGeom prst="rect">
            <a:avLst/>
          </a:prstGeom>
        </p:spPr>
      </p:pic>
      <p:sp>
        <p:nvSpPr>
          <p:cNvPr id="26" name="Text 16"/>
          <p:cNvSpPr txBox="1"/>
          <p:nvPr/>
        </p:nvSpPr>
        <p:spPr>
          <a:xfrm>
            <a:off x="7040880" y="4892040"/>
            <a:ext cx="4572000" cy="868680"/>
          </a:xfrm>
          <a:prstGeom prst="rect">
            <a:avLst/>
          </a:prstGeom>
          <a:noFill/>
          <a:ln/>
        </p:spPr>
        <p:txBody>
          <a:bodyPr wrap="square" lIns="0" tIns="0" rIns="0" bIns="0" rtlCol="0" anchor="t"/>
          <a:lstStyle/>
          <a:p>
            <a:pPr indent="0" marL="0">
              <a:buNone/>
            </a:pPr>
            <a:r>
              <a:rPr lang="en-US" sz="1600" b="1" dirty="0">
                <a:solidFill>
                  <a:srgbClr val="1D2A2E"/>
                </a:solidFill>
              </a:rPr>
              <a:t>Observability</a:t>
            </a:r>
            <a:endParaRPr lang="en-US" sz="1600" dirty="0"/>
          </a:p>
          <a:p>
            <a:pPr indent="0" marL="0">
              <a:buNone/>
            </a:pPr>
            <a:r>
              <a:rPr lang="en-US" sz="1400" dirty="0">
                <a:solidFill>
                  <a:srgbClr val="4B585C"/>
                </a:solidFill>
              </a:rPr>
              <a:t>kube-prometheus-stack · ServiceMonitor · Grafana</a:t>
            </a:r>
            <a:endParaRPr lang="en-US" sz="16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F3D47"/>
                </a:solidFill>
                <a:latin typeface="Arial" pitchFamily="34" charset="0"/>
                <a:ea typeface="Arial" pitchFamily="34" charset="-122"/>
                <a:cs typeface="Arial" pitchFamily="34" charset="-120"/>
              </a:rPr>
              <a:t>Architecture: Git is the only way into the cluster</a:t>
            </a:r>
            <a:endParaRPr lang="en-US" sz="3000" dirty="0"/>
          </a:p>
        </p:txBody>
      </p:sp>
      <p:sp>
        <p:nvSpPr>
          <p:cNvPr id="3" name="Shape 1"/>
          <p:cNvSpPr/>
          <p:nvPr/>
        </p:nvSpPr>
        <p:spPr>
          <a:xfrm>
            <a:off x="548640" y="1463040"/>
            <a:ext cx="1554480" cy="822960"/>
          </a:xfrm>
          <a:prstGeom prst="roundRect">
            <a:avLst>
              <a:gd name="adj" fmla="val 8889"/>
            </a:avLst>
          </a:prstGeom>
          <a:solidFill>
            <a:srgbClr val="EEF4F4"/>
          </a:solidFill>
          <a:ln w="12700">
            <a:solidFill>
              <a:srgbClr val="EEF4F4"/>
            </a:solidFill>
            <a:prstDash val="solid"/>
          </a:ln>
        </p:spPr>
      </p:sp>
      <p:sp>
        <p:nvSpPr>
          <p:cNvPr id="4" name="Text 2"/>
          <p:cNvSpPr txBox="1"/>
          <p:nvPr/>
        </p:nvSpPr>
        <p:spPr>
          <a:xfrm>
            <a:off x="548640" y="1463040"/>
            <a:ext cx="1554480" cy="822960"/>
          </a:xfrm>
          <a:prstGeom prst="rect">
            <a:avLst/>
          </a:prstGeom>
          <a:noFill/>
          <a:ln/>
        </p:spPr>
        <p:txBody>
          <a:bodyPr wrap="square" lIns="50800" tIns="50800" rIns="50800" bIns="50800" rtlCol="0" anchor="ctr"/>
          <a:lstStyle/>
          <a:p>
            <a:pPr algn="ctr" indent="0" marL="0">
              <a:buNone/>
            </a:pPr>
            <a:r>
              <a:rPr lang="en-US" sz="1400" b="1" dirty="0">
                <a:solidFill>
                  <a:srgbClr val="1D2A2E"/>
                </a:solidFill>
              </a:rPr>
              <a:t>Developer</a:t>
            </a:r>
            <a:endParaRPr lang="en-US" sz="1400" dirty="0"/>
          </a:p>
          <a:p>
            <a:pPr algn="ctr" indent="0" marL="0">
              <a:buNone/>
            </a:pPr>
            <a:r>
              <a:rPr lang="en-US" sz="1100" dirty="0">
                <a:solidFill>
                  <a:srgbClr val="4B585C"/>
                </a:solidFill>
              </a:rPr>
              <a:t>git push</a:t>
            </a:r>
            <a:endParaRPr lang="en-US" sz="1400" dirty="0"/>
          </a:p>
        </p:txBody>
      </p:sp>
      <p:sp>
        <p:nvSpPr>
          <p:cNvPr id="5" name="Shape 3"/>
          <p:cNvSpPr/>
          <p:nvPr/>
        </p:nvSpPr>
        <p:spPr>
          <a:xfrm>
            <a:off x="2560320" y="1463040"/>
            <a:ext cx="2011680" cy="822960"/>
          </a:xfrm>
          <a:prstGeom prst="roundRect">
            <a:avLst>
              <a:gd name="adj" fmla="val 8889"/>
            </a:avLst>
          </a:prstGeom>
          <a:solidFill>
            <a:srgbClr val="0F3D47"/>
          </a:solidFill>
          <a:ln w="12700">
            <a:solidFill>
              <a:srgbClr val="0F3D47"/>
            </a:solidFill>
            <a:prstDash val="solid"/>
          </a:ln>
        </p:spPr>
      </p:sp>
      <p:sp>
        <p:nvSpPr>
          <p:cNvPr id="6" name="Text 4"/>
          <p:cNvSpPr txBox="1"/>
          <p:nvPr/>
        </p:nvSpPr>
        <p:spPr>
          <a:xfrm>
            <a:off x="2560320" y="1463040"/>
            <a:ext cx="2011680" cy="82296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GitHub Actions</a:t>
            </a:r>
            <a:endParaRPr lang="en-US" sz="1400" dirty="0"/>
          </a:p>
          <a:p>
            <a:pPr algn="ctr" indent="0" marL="0">
              <a:buNone/>
            </a:pPr>
            <a:r>
              <a:rPr lang="en-US" sz="1100" dirty="0">
                <a:solidFill>
                  <a:srgbClr val="CFE3E3"/>
                </a:solidFill>
              </a:rPr>
              <a:t>test · build · scan</a:t>
            </a:r>
            <a:endParaRPr lang="en-US" sz="1400" dirty="0"/>
          </a:p>
        </p:txBody>
      </p:sp>
      <p:sp>
        <p:nvSpPr>
          <p:cNvPr id="7" name="Shape 5"/>
          <p:cNvSpPr/>
          <p:nvPr/>
        </p:nvSpPr>
        <p:spPr>
          <a:xfrm>
            <a:off x="5029200" y="1463040"/>
            <a:ext cx="1737360" cy="822960"/>
          </a:xfrm>
          <a:prstGeom prst="roundRect">
            <a:avLst>
              <a:gd name="adj" fmla="val 8889"/>
            </a:avLst>
          </a:prstGeom>
          <a:solidFill>
            <a:srgbClr val="EEF4F4"/>
          </a:solidFill>
          <a:ln w="12700">
            <a:solidFill>
              <a:srgbClr val="EEF4F4"/>
            </a:solidFill>
            <a:prstDash val="solid"/>
          </a:ln>
        </p:spPr>
      </p:sp>
      <p:sp>
        <p:nvSpPr>
          <p:cNvPr id="8" name="Text 6"/>
          <p:cNvSpPr txBox="1"/>
          <p:nvPr/>
        </p:nvSpPr>
        <p:spPr>
          <a:xfrm>
            <a:off x="5029200" y="1463040"/>
            <a:ext cx="1737360" cy="822960"/>
          </a:xfrm>
          <a:prstGeom prst="rect">
            <a:avLst/>
          </a:prstGeom>
          <a:noFill/>
          <a:ln/>
        </p:spPr>
        <p:txBody>
          <a:bodyPr wrap="square" lIns="50800" tIns="50800" rIns="50800" bIns="50800" rtlCol="0" anchor="ctr"/>
          <a:lstStyle/>
          <a:p>
            <a:pPr algn="ctr" indent="0" marL="0">
              <a:buNone/>
            </a:pPr>
            <a:r>
              <a:rPr lang="en-US" sz="1400" b="1" dirty="0">
                <a:solidFill>
                  <a:srgbClr val="1D2A2E"/>
                </a:solidFill>
              </a:rPr>
              <a:t>GHCR</a:t>
            </a:r>
            <a:endParaRPr lang="en-US" sz="1400" dirty="0"/>
          </a:p>
          <a:p>
            <a:pPr algn="ctr" indent="0" marL="0">
              <a:buNone/>
            </a:pPr>
            <a:r>
              <a:rPr lang="en-US" sz="1100" dirty="0">
                <a:solidFill>
                  <a:srgbClr val="4B585C"/>
                </a:solidFill>
              </a:rPr>
              <a:t>image:&lt;git-sha&gt;</a:t>
            </a:r>
            <a:endParaRPr lang="en-US" sz="1400" dirty="0"/>
          </a:p>
        </p:txBody>
      </p:sp>
      <p:sp>
        <p:nvSpPr>
          <p:cNvPr id="9" name="Shape 7"/>
          <p:cNvSpPr/>
          <p:nvPr/>
        </p:nvSpPr>
        <p:spPr>
          <a:xfrm>
            <a:off x="7223760" y="1463040"/>
            <a:ext cx="2011680" cy="822960"/>
          </a:xfrm>
          <a:prstGeom prst="roundRect">
            <a:avLst>
              <a:gd name="adj" fmla="val 8889"/>
            </a:avLst>
          </a:prstGeom>
          <a:solidFill>
            <a:srgbClr val="EEF4F4"/>
          </a:solidFill>
          <a:ln w="12700">
            <a:solidFill>
              <a:srgbClr val="EEF4F4"/>
            </a:solidFill>
            <a:prstDash val="solid"/>
          </a:ln>
        </p:spPr>
      </p:sp>
      <p:sp>
        <p:nvSpPr>
          <p:cNvPr id="10" name="Text 8"/>
          <p:cNvSpPr txBox="1"/>
          <p:nvPr/>
        </p:nvSpPr>
        <p:spPr>
          <a:xfrm>
            <a:off x="7223760" y="1463040"/>
            <a:ext cx="2011680" cy="822960"/>
          </a:xfrm>
          <a:prstGeom prst="rect">
            <a:avLst/>
          </a:prstGeom>
          <a:noFill/>
          <a:ln/>
        </p:spPr>
        <p:txBody>
          <a:bodyPr wrap="square" lIns="50800" tIns="50800" rIns="50800" bIns="50800" rtlCol="0" anchor="ctr"/>
          <a:lstStyle/>
          <a:p>
            <a:pPr algn="ctr" indent="0" marL="0">
              <a:buNone/>
            </a:pPr>
            <a:r>
              <a:rPr lang="en-US" sz="1400" b="1" dirty="0">
                <a:solidFill>
                  <a:srgbClr val="1D2A2E"/>
                </a:solidFill>
              </a:rPr>
              <a:t>Git: values.yaml</a:t>
            </a:r>
            <a:endParaRPr lang="en-US" sz="1400" dirty="0"/>
          </a:p>
          <a:p>
            <a:pPr algn="ctr" indent="0" marL="0">
              <a:buNone/>
            </a:pPr>
            <a:r>
              <a:rPr lang="en-US" sz="1100" dirty="0">
                <a:solidFill>
                  <a:srgbClr val="4B585C"/>
                </a:solidFill>
              </a:rPr>
              <a:t>tag ← &lt;git-sha&gt;</a:t>
            </a:r>
            <a:endParaRPr lang="en-US" sz="1400" dirty="0"/>
          </a:p>
        </p:txBody>
      </p:sp>
      <p:sp>
        <p:nvSpPr>
          <p:cNvPr id="11" name="Shape 9"/>
          <p:cNvSpPr/>
          <p:nvPr/>
        </p:nvSpPr>
        <p:spPr>
          <a:xfrm>
            <a:off x="9692640" y="1463040"/>
            <a:ext cx="1920240" cy="822960"/>
          </a:xfrm>
          <a:prstGeom prst="roundRect">
            <a:avLst>
              <a:gd name="adj" fmla="val 8889"/>
            </a:avLst>
          </a:prstGeom>
          <a:solidFill>
            <a:srgbClr val="0F6B74"/>
          </a:solidFill>
          <a:ln w="12700">
            <a:solidFill>
              <a:srgbClr val="0F6B74"/>
            </a:solidFill>
            <a:prstDash val="solid"/>
          </a:ln>
        </p:spPr>
      </p:sp>
      <p:sp>
        <p:nvSpPr>
          <p:cNvPr id="12" name="Text 10"/>
          <p:cNvSpPr txBox="1"/>
          <p:nvPr/>
        </p:nvSpPr>
        <p:spPr>
          <a:xfrm>
            <a:off x="9692640" y="1463040"/>
            <a:ext cx="1920240" cy="822960"/>
          </a:xfrm>
          <a:prstGeom prst="rect">
            <a:avLst/>
          </a:prstGeom>
          <a:noFill/>
          <a:ln/>
        </p:spPr>
        <p:txBody>
          <a:bodyPr wrap="square" lIns="50800" tIns="50800" rIns="50800" bIns="50800" rtlCol="0" anchor="ctr"/>
          <a:lstStyle/>
          <a:p>
            <a:pPr algn="ctr" indent="0" marL="0">
              <a:buNone/>
            </a:pPr>
            <a:r>
              <a:rPr lang="en-US" sz="1400" b="1" dirty="0">
                <a:solidFill>
                  <a:srgbClr val="FFFFFF"/>
                </a:solidFill>
              </a:rPr>
              <a:t>Argo CD</a:t>
            </a:r>
            <a:endParaRPr lang="en-US" sz="1400" dirty="0"/>
          </a:p>
          <a:p>
            <a:pPr algn="ctr" indent="0" marL="0">
              <a:buNone/>
            </a:pPr>
            <a:r>
              <a:rPr lang="en-US" sz="1100" dirty="0">
                <a:solidFill>
                  <a:srgbClr val="CFE3E3"/>
                </a:solidFill>
              </a:rPr>
              <a:t>auto-sync, self-heal</a:t>
            </a:r>
            <a:endParaRPr lang="en-US" sz="1400" dirty="0"/>
          </a:p>
        </p:txBody>
      </p:sp>
      <p:sp>
        <p:nvSpPr>
          <p:cNvPr id="13" name="Shape 11"/>
          <p:cNvSpPr/>
          <p:nvPr/>
        </p:nvSpPr>
        <p:spPr>
          <a:xfrm>
            <a:off x="2103120" y="1874520"/>
            <a:ext cx="457200" cy="914"/>
          </a:xfrm>
          <a:prstGeom prst="line">
            <a:avLst/>
          </a:prstGeom>
          <a:noFill/>
          <a:ln w="19050">
            <a:solidFill>
              <a:srgbClr val="5F6B6E"/>
            </a:solidFill>
            <a:prstDash val="solid"/>
            <a:tailEnd type="triangle"/>
          </a:ln>
        </p:spPr>
      </p:sp>
      <p:sp>
        <p:nvSpPr>
          <p:cNvPr id="14" name="Shape 12"/>
          <p:cNvSpPr/>
          <p:nvPr/>
        </p:nvSpPr>
        <p:spPr>
          <a:xfrm>
            <a:off x="4572000" y="1874520"/>
            <a:ext cx="457200" cy="914"/>
          </a:xfrm>
          <a:prstGeom prst="line">
            <a:avLst/>
          </a:prstGeom>
          <a:noFill/>
          <a:ln w="19050">
            <a:solidFill>
              <a:srgbClr val="5F6B6E"/>
            </a:solidFill>
            <a:prstDash val="solid"/>
            <a:tailEnd type="triangle"/>
          </a:ln>
        </p:spPr>
      </p:sp>
      <p:sp>
        <p:nvSpPr>
          <p:cNvPr id="15" name="Shape 13"/>
          <p:cNvSpPr/>
          <p:nvPr/>
        </p:nvSpPr>
        <p:spPr>
          <a:xfrm>
            <a:off x="6766560" y="1874520"/>
            <a:ext cx="457200" cy="914"/>
          </a:xfrm>
          <a:prstGeom prst="line">
            <a:avLst/>
          </a:prstGeom>
          <a:noFill/>
          <a:ln w="19050">
            <a:solidFill>
              <a:srgbClr val="5F6B6E"/>
            </a:solidFill>
            <a:prstDash val="solid"/>
            <a:tailEnd type="triangle"/>
          </a:ln>
        </p:spPr>
      </p:sp>
      <p:sp>
        <p:nvSpPr>
          <p:cNvPr id="16" name="Shape 14"/>
          <p:cNvSpPr/>
          <p:nvPr/>
        </p:nvSpPr>
        <p:spPr>
          <a:xfrm>
            <a:off x="9235440" y="1874520"/>
            <a:ext cx="457200" cy="914"/>
          </a:xfrm>
          <a:prstGeom prst="line">
            <a:avLst/>
          </a:prstGeom>
          <a:noFill/>
          <a:ln w="19050">
            <a:solidFill>
              <a:srgbClr val="5F6B6E"/>
            </a:solidFill>
            <a:prstDash val="solid"/>
            <a:tailEnd type="triangle"/>
          </a:ln>
        </p:spPr>
      </p:sp>
      <p:sp>
        <p:nvSpPr>
          <p:cNvPr id="17" name="Shape 15"/>
          <p:cNvSpPr/>
          <p:nvPr/>
        </p:nvSpPr>
        <p:spPr>
          <a:xfrm>
            <a:off x="3291840" y="2788920"/>
            <a:ext cx="8321040" cy="3154680"/>
          </a:xfrm>
          <a:prstGeom prst="roundRect">
            <a:avLst>
              <a:gd name="adj" fmla="val 2899"/>
            </a:avLst>
          </a:prstGeom>
          <a:solidFill>
            <a:srgbClr val="F7FAFA"/>
          </a:solidFill>
          <a:ln w="12700">
            <a:solidFill>
              <a:srgbClr val="9FC3C7"/>
            </a:solidFill>
            <a:prstDash val="dash"/>
          </a:ln>
        </p:spPr>
      </p:sp>
      <p:sp>
        <p:nvSpPr>
          <p:cNvPr id="18" name="Text 16"/>
          <p:cNvSpPr txBox="1"/>
          <p:nvPr/>
        </p:nvSpPr>
        <p:spPr>
          <a:xfrm>
            <a:off x="3474720" y="2852928"/>
            <a:ext cx="4572000" cy="320040"/>
          </a:xfrm>
          <a:prstGeom prst="rect">
            <a:avLst/>
          </a:prstGeom>
          <a:noFill/>
          <a:ln/>
        </p:spPr>
        <p:txBody>
          <a:bodyPr wrap="square" lIns="0" tIns="0" rIns="0" bIns="0" rtlCol="0" anchor="ctr"/>
          <a:lstStyle/>
          <a:p>
            <a:pPr indent="0" marL="0">
              <a:buNone/>
            </a:pPr>
            <a:r>
              <a:rPr lang="en-US" sz="1200" b="1" dirty="0">
                <a:solidFill>
                  <a:schemeClr val="accent1"/>
                </a:solidFill>
              </a:rPr>
              <a:t>Kubernetes · namespace careslot</a:t>
            </a:r>
            <a:endParaRPr lang="en-US" sz="1200" dirty="0"/>
          </a:p>
        </p:txBody>
      </p:sp>
      <p:sp>
        <p:nvSpPr>
          <p:cNvPr id="19" name="Shape 17"/>
          <p:cNvSpPr/>
          <p:nvPr/>
        </p:nvSpPr>
        <p:spPr>
          <a:xfrm>
            <a:off x="10652760" y="2286000"/>
            <a:ext cx="914" cy="502920"/>
          </a:xfrm>
          <a:prstGeom prst="line">
            <a:avLst/>
          </a:prstGeom>
          <a:noFill/>
          <a:ln w="19050">
            <a:solidFill>
              <a:srgbClr val="5F6B6E"/>
            </a:solidFill>
            <a:prstDash val="solid"/>
            <a:tailEnd type="triangle"/>
          </a:ln>
        </p:spPr>
      </p:sp>
      <p:sp>
        <p:nvSpPr>
          <p:cNvPr id="20" name="Shape 18"/>
          <p:cNvSpPr/>
          <p:nvPr/>
        </p:nvSpPr>
        <p:spPr>
          <a:xfrm>
            <a:off x="3566160" y="3383280"/>
            <a:ext cx="1737360" cy="731520"/>
          </a:xfrm>
          <a:prstGeom prst="roundRect">
            <a:avLst>
              <a:gd name="adj" fmla="val 10000"/>
            </a:avLst>
          </a:prstGeom>
          <a:solidFill>
            <a:srgbClr val="FFFFFF"/>
          </a:solidFill>
          <a:ln w="12700">
            <a:solidFill>
              <a:srgbClr val="C9D6D8"/>
            </a:solidFill>
            <a:prstDash val="solid"/>
          </a:ln>
        </p:spPr>
      </p:sp>
      <p:sp>
        <p:nvSpPr>
          <p:cNvPr id="21" name="Text 19"/>
          <p:cNvSpPr txBox="1"/>
          <p:nvPr/>
        </p:nvSpPr>
        <p:spPr>
          <a:xfrm>
            <a:off x="3566160" y="3383280"/>
            <a:ext cx="1737360" cy="731520"/>
          </a:xfrm>
          <a:prstGeom prst="rect">
            <a:avLst/>
          </a:prstGeom>
          <a:noFill/>
          <a:ln/>
        </p:spPr>
        <p:txBody>
          <a:bodyPr wrap="square" lIns="50800" tIns="50800" rIns="50800" bIns="50800" rtlCol="0" anchor="ctr"/>
          <a:lstStyle/>
          <a:p>
            <a:pPr algn="ctr" indent="0" marL="0">
              <a:buNone/>
            </a:pPr>
            <a:r>
              <a:rPr lang="en-US" sz="1400" b="1" dirty="0">
                <a:solidFill>
                  <a:srgbClr val="1D2A2E"/>
                </a:solidFill>
              </a:rPr>
              <a:t>Ingress</a:t>
            </a:r>
            <a:endParaRPr lang="en-US" sz="1400" dirty="0"/>
          </a:p>
          <a:p>
            <a:pPr algn="ctr" indent="0" marL="0">
              <a:buNone/>
            </a:pPr>
            <a:r>
              <a:rPr lang="en-US" sz="1100" dirty="0">
                <a:solidFill>
                  <a:srgbClr val="4B585C"/>
                </a:solidFill>
              </a:rPr>
              <a:t>/ and /api</a:t>
            </a:r>
            <a:endParaRPr lang="en-US" sz="1400" dirty="0"/>
          </a:p>
        </p:txBody>
      </p:sp>
      <p:sp>
        <p:nvSpPr>
          <p:cNvPr id="22" name="Shape 20"/>
          <p:cNvSpPr/>
          <p:nvPr/>
        </p:nvSpPr>
        <p:spPr>
          <a:xfrm>
            <a:off x="5760720" y="3246120"/>
            <a:ext cx="2194560" cy="685800"/>
          </a:xfrm>
          <a:prstGeom prst="roundRect">
            <a:avLst>
              <a:gd name="adj" fmla="val 10667"/>
            </a:avLst>
          </a:prstGeom>
          <a:solidFill>
            <a:srgbClr val="FFFFFF"/>
          </a:solidFill>
          <a:ln w="12700">
            <a:solidFill>
              <a:srgbClr val="C9D6D8"/>
            </a:solidFill>
            <a:prstDash val="solid"/>
          </a:ln>
        </p:spPr>
      </p:sp>
      <p:sp>
        <p:nvSpPr>
          <p:cNvPr id="23" name="Text 21"/>
          <p:cNvSpPr txBox="1"/>
          <p:nvPr/>
        </p:nvSpPr>
        <p:spPr>
          <a:xfrm>
            <a:off x="5760720" y="3246120"/>
            <a:ext cx="2194560" cy="685800"/>
          </a:xfrm>
          <a:prstGeom prst="rect">
            <a:avLst/>
          </a:prstGeom>
          <a:noFill/>
          <a:ln/>
        </p:spPr>
        <p:txBody>
          <a:bodyPr wrap="square" lIns="50800" tIns="50800" rIns="50800" bIns="50800" rtlCol="0" anchor="ctr"/>
          <a:lstStyle/>
          <a:p>
            <a:pPr algn="ctr" indent="0" marL="0">
              <a:buNone/>
            </a:pPr>
            <a:r>
              <a:rPr lang="en-US" sz="1400" b="1" dirty="0">
                <a:solidFill>
                  <a:srgbClr val="1D2A2E"/>
                </a:solidFill>
              </a:rPr>
              <a:t>Frontend ×2</a:t>
            </a:r>
            <a:endParaRPr lang="en-US" sz="1400" dirty="0"/>
          </a:p>
          <a:p>
            <a:pPr algn="ctr" indent="0" marL="0">
              <a:buNone/>
            </a:pPr>
            <a:r>
              <a:rPr lang="en-US" sz="1100" dirty="0">
                <a:solidFill>
                  <a:srgbClr val="4B585C"/>
                </a:solidFill>
              </a:rPr>
              <a:t>Nginx, uid 101</a:t>
            </a:r>
            <a:endParaRPr lang="en-US" sz="1400" dirty="0"/>
          </a:p>
        </p:txBody>
      </p:sp>
      <p:sp>
        <p:nvSpPr>
          <p:cNvPr id="24" name="Shape 22"/>
          <p:cNvSpPr/>
          <p:nvPr/>
        </p:nvSpPr>
        <p:spPr>
          <a:xfrm>
            <a:off x="5760720" y="4206240"/>
            <a:ext cx="2194560" cy="685800"/>
          </a:xfrm>
          <a:prstGeom prst="roundRect">
            <a:avLst>
              <a:gd name="adj" fmla="val 10667"/>
            </a:avLst>
          </a:prstGeom>
          <a:solidFill>
            <a:srgbClr val="FFFFFF"/>
          </a:solidFill>
          <a:ln w="12700">
            <a:solidFill>
              <a:srgbClr val="C9D6D8"/>
            </a:solidFill>
            <a:prstDash val="solid"/>
          </a:ln>
        </p:spPr>
      </p:sp>
      <p:sp>
        <p:nvSpPr>
          <p:cNvPr id="25" name="Text 23"/>
          <p:cNvSpPr txBox="1"/>
          <p:nvPr/>
        </p:nvSpPr>
        <p:spPr>
          <a:xfrm>
            <a:off x="5760720" y="4206240"/>
            <a:ext cx="2194560" cy="685800"/>
          </a:xfrm>
          <a:prstGeom prst="rect">
            <a:avLst/>
          </a:prstGeom>
          <a:noFill/>
          <a:ln/>
        </p:spPr>
        <p:txBody>
          <a:bodyPr wrap="square" lIns="50800" tIns="50800" rIns="50800" bIns="50800" rtlCol="0" anchor="ctr"/>
          <a:lstStyle/>
          <a:p>
            <a:pPr algn="ctr" indent="0" marL="0">
              <a:buNone/>
            </a:pPr>
            <a:r>
              <a:rPr lang="en-US" sz="1400" b="1" dirty="0">
                <a:solidFill>
                  <a:srgbClr val="1D2A2E"/>
                </a:solidFill>
              </a:rPr>
              <a:t>Backend 2–6</a:t>
            </a:r>
            <a:endParaRPr lang="en-US" sz="1400" dirty="0"/>
          </a:p>
          <a:p>
            <a:pPr algn="ctr" indent="0" marL="0">
              <a:buNone/>
            </a:pPr>
            <a:r>
              <a:rPr lang="en-US" sz="1100" dirty="0">
                <a:solidFill>
                  <a:srgbClr val="4B585C"/>
                </a:solidFill>
              </a:rPr>
              <a:t>FastAPI + HPA</a:t>
            </a:r>
            <a:endParaRPr lang="en-US" sz="1400" dirty="0"/>
          </a:p>
        </p:txBody>
      </p:sp>
      <p:sp>
        <p:nvSpPr>
          <p:cNvPr id="26" name="Shape 24"/>
          <p:cNvSpPr/>
          <p:nvPr/>
        </p:nvSpPr>
        <p:spPr>
          <a:xfrm>
            <a:off x="8412480" y="4206240"/>
            <a:ext cx="1737360" cy="685800"/>
          </a:xfrm>
          <a:prstGeom prst="roundRect">
            <a:avLst>
              <a:gd name="adj" fmla="val 10667"/>
            </a:avLst>
          </a:prstGeom>
          <a:solidFill>
            <a:srgbClr val="FFFFFF"/>
          </a:solidFill>
          <a:ln w="12700">
            <a:solidFill>
              <a:srgbClr val="C9D6D8"/>
            </a:solidFill>
            <a:prstDash val="solid"/>
          </a:ln>
        </p:spPr>
      </p:sp>
      <p:sp>
        <p:nvSpPr>
          <p:cNvPr id="27" name="Text 25"/>
          <p:cNvSpPr txBox="1"/>
          <p:nvPr/>
        </p:nvSpPr>
        <p:spPr>
          <a:xfrm>
            <a:off x="8412480" y="4206240"/>
            <a:ext cx="1737360" cy="685800"/>
          </a:xfrm>
          <a:prstGeom prst="rect">
            <a:avLst/>
          </a:prstGeom>
          <a:noFill/>
          <a:ln/>
        </p:spPr>
        <p:txBody>
          <a:bodyPr wrap="square" lIns="50800" tIns="50800" rIns="50800" bIns="50800" rtlCol="0" anchor="ctr"/>
          <a:lstStyle/>
          <a:p>
            <a:pPr algn="ctr" indent="0" marL="0">
              <a:buNone/>
            </a:pPr>
            <a:r>
              <a:rPr lang="en-US" sz="1400" b="1" dirty="0">
                <a:solidFill>
                  <a:srgbClr val="1D2A2E"/>
                </a:solidFill>
              </a:rPr>
              <a:t>PostgreSQL</a:t>
            </a:r>
            <a:endParaRPr lang="en-US" sz="1400" dirty="0"/>
          </a:p>
          <a:p>
            <a:pPr algn="ctr" indent="0" marL="0">
              <a:buNone/>
            </a:pPr>
            <a:r>
              <a:rPr lang="en-US" sz="1100" dirty="0">
                <a:solidFill>
                  <a:srgbClr val="4B585C"/>
                </a:solidFill>
              </a:rPr>
              <a:t>StatefulSet + PVC</a:t>
            </a:r>
            <a:endParaRPr lang="en-US" sz="1400" dirty="0"/>
          </a:p>
        </p:txBody>
      </p:sp>
      <p:sp>
        <p:nvSpPr>
          <p:cNvPr id="28" name="Shape 26"/>
          <p:cNvSpPr/>
          <p:nvPr/>
        </p:nvSpPr>
        <p:spPr>
          <a:xfrm>
            <a:off x="8412480" y="5120640"/>
            <a:ext cx="1463040" cy="640080"/>
          </a:xfrm>
          <a:prstGeom prst="roundRect">
            <a:avLst>
              <a:gd name="adj" fmla="val 11429"/>
            </a:avLst>
          </a:prstGeom>
          <a:solidFill>
            <a:srgbClr val="EEF4F4"/>
          </a:solidFill>
          <a:ln w="12700">
            <a:solidFill>
              <a:srgbClr val="EEF4F4"/>
            </a:solidFill>
            <a:prstDash val="solid"/>
          </a:ln>
        </p:spPr>
      </p:sp>
      <p:sp>
        <p:nvSpPr>
          <p:cNvPr id="29" name="Text 27"/>
          <p:cNvSpPr txBox="1"/>
          <p:nvPr/>
        </p:nvSpPr>
        <p:spPr>
          <a:xfrm>
            <a:off x="8412480" y="5120640"/>
            <a:ext cx="1463040" cy="640080"/>
          </a:xfrm>
          <a:prstGeom prst="rect">
            <a:avLst/>
          </a:prstGeom>
          <a:noFill/>
          <a:ln/>
        </p:spPr>
        <p:txBody>
          <a:bodyPr wrap="square" lIns="50800" tIns="50800" rIns="50800" bIns="50800" rtlCol="0" anchor="ctr"/>
          <a:lstStyle/>
          <a:p>
            <a:pPr algn="ctr" indent="0" marL="0">
              <a:buNone/>
            </a:pPr>
            <a:r>
              <a:rPr lang="en-US" sz="1400" b="1" dirty="0">
                <a:solidFill>
                  <a:srgbClr val="1D2A2E"/>
                </a:solidFill>
              </a:rPr>
              <a:t>Prometheus</a:t>
            </a:r>
            <a:endParaRPr lang="en-US" sz="1400" dirty="0"/>
          </a:p>
        </p:txBody>
      </p:sp>
      <p:sp>
        <p:nvSpPr>
          <p:cNvPr id="30" name="Shape 28"/>
          <p:cNvSpPr/>
          <p:nvPr/>
        </p:nvSpPr>
        <p:spPr>
          <a:xfrm>
            <a:off x="10149840" y="5120640"/>
            <a:ext cx="1280160" cy="640080"/>
          </a:xfrm>
          <a:prstGeom prst="roundRect">
            <a:avLst>
              <a:gd name="adj" fmla="val 11429"/>
            </a:avLst>
          </a:prstGeom>
          <a:solidFill>
            <a:srgbClr val="EEF4F4"/>
          </a:solidFill>
          <a:ln w="12700">
            <a:solidFill>
              <a:srgbClr val="EEF4F4"/>
            </a:solidFill>
            <a:prstDash val="solid"/>
          </a:ln>
        </p:spPr>
      </p:sp>
      <p:sp>
        <p:nvSpPr>
          <p:cNvPr id="31" name="Text 29"/>
          <p:cNvSpPr txBox="1"/>
          <p:nvPr/>
        </p:nvSpPr>
        <p:spPr>
          <a:xfrm>
            <a:off x="10149840" y="5120640"/>
            <a:ext cx="1280160" cy="640080"/>
          </a:xfrm>
          <a:prstGeom prst="rect">
            <a:avLst/>
          </a:prstGeom>
          <a:noFill/>
          <a:ln/>
        </p:spPr>
        <p:txBody>
          <a:bodyPr wrap="square" lIns="50800" tIns="50800" rIns="50800" bIns="50800" rtlCol="0" anchor="ctr"/>
          <a:lstStyle/>
          <a:p>
            <a:pPr algn="ctr" indent="0" marL="0">
              <a:buNone/>
            </a:pPr>
            <a:r>
              <a:rPr lang="en-US" sz="1400" b="1" dirty="0">
                <a:solidFill>
                  <a:srgbClr val="1D2A2E"/>
                </a:solidFill>
              </a:rPr>
              <a:t>Grafana</a:t>
            </a:r>
            <a:endParaRPr lang="en-US" sz="1400" dirty="0"/>
          </a:p>
        </p:txBody>
      </p:sp>
      <p:sp>
        <p:nvSpPr>
          <p:cNvPr id="32" name="Shape 30"/>
          <p:cNvSpPr/>
          <p:nvPr/>
        </p:nvSpPr>
        <p:spPr>
          <a:xfrm flipV="1">
            <a:off x="5303520" y="3566160"/>
            <a:ext cx="457200" cy="45720"/>
          </a:xfrm>
          <a:prstGeom prst="line">
            <a:avLst/>
          </a:prstGeom>
          <a:noFill/>
          <a:ln w="19050">
            <a:solidFill>
              <a:srgbClr val="5F6B6E"/>
            </a:solidFill>
            <a:prstDash val="solid"/>
            <a:tailEnd type="triangle"/>
          </a:ln>
        </p:spPr>
      </p:sp>
      <p:sp>
        <p:nvSpPr>
          <p:cNvPr id="33" name="Shape 31"/>
          <p:cNvSpPr/>
          <p:nvPr/>
        </p:nvSpPr>
        <p:spPr>
          <a:xfrm>
            <a:off x="5303520" y="3886200"/>
            <a:ext cx="457200" cy="640080"/>
          </a:xfrm>
          <a:prstGeom prst="line">
            <a:avLst/>
          </a:prstGeom>
          <a:noFill/>
          <a:ln w="19050">
            <a:solidFill>
              <a:srgbClr val="5F6B6E"/>
            </a:solidFill>
            <a:prstDash val="solid"/>
            <a:tailEnd type="triangle"/>
          </a:ln>
        </p:spPr>
      </p:sp>
      <p:sp>
        <p:nvSpPr>
          <p:cNvPr id="34" name="Shape 32"/>
          <p:cNvSpPr/>
          <p:nvPr/>
        </p:nvSpPr>
        <p:spPr>
          <a:xfrm>
            <a:off x="7955280" y="4544568"/>
            <a:ext cx="457200" cy="914"/>
          </a:xfrm>
          <a:prstGeom prst="line">
            <a:avLst/>
          </a:prstGeom>
          <a:noFill/>
          <a:ln w="19050">
            <a:solidFill>
              <a:srgbClr val="5F6B6E"/>
            </a:solidFill>
            <a:prstDash val="solid"/>
            <a:tailEnd type="triangle"/>
          </a:ln>
        </p:spPr>
      </p:sp>
      <p:sp>
        <p:nvSpPr>
          <p:cNvPr id="35" name="Shape 33"/>
          <p:cNvSpPr/>
          <p:nvPr/>
        </p:nvSpPr>
        <p:spPr>
          <a:xfrm>
            <a:off x="7955280" y="4754880"/>
            <a:ext cx="457200" cy="594360"/>
          </a:xfrm>
          <a:prstGeom prst="line">
            <a:avLst/>
          </a:prstGeom>
          <a:noFill/>
          <a:ln w="19050">
            <a:solidFill>
              <a:srgbClr val="5F6B6E"/>
            </a:solidFill>
            <a:prstDash val="solid"/>
            <a:tailEnd type="triangle"/>
          </a:ln>
        </p:spPr>
      </p:sp>
      <p:sp>
        <p:nvSpPr>
          <p:cNvPr id="36" name="Shape 34"/>
          <p:cNvSpPr/>
          <p:nvPr/>
        </p:nvSpPr>
        <p:spPr>
          <a:xfrm>
            <a:off x="9875520" y="5440680"/>
            <a:ext cx="274320" cy="914"/>
          </a:xfrm>
          <a:prstGeom prst="line">
            <a:avLst/>
          </a:prstGeom>
          <a:noFill/>
          <a:ln w="19050">
            <a:solidFill>
              <a:srgbClr val="5F6B6E"/>
            </a:solidFill>
            <a:prstDash val="solid"/>
            <a:tailEnd type="triangle"/>
          </a:ln>
        </p:spPr>
      </p:sp>
      <p:sp>
        <p:nvSpPr>
          <p:cNvPr id="37" name="Shape 35"/>
          <p:cNvSpPr/>
          <p:nvPr/>
        </p:nvSpPr>
        <p:spPr>
          <a:xfrm>
            <a:off x="548640" y="3383280"/>
            <a:ext cx="2194560" cy="1005840"/>
          </a:xfrm>
          <a:prstGeom prst="roundRect">
            <a:avLst>
              <a:gd name="adj" fmla="val 7273"/>
            </a:avLst>
          </a:prstGeom>
          <a:solidFill>
            <a:srgbClr val="EEF4F4"/>
          </a:solidFill>
          <a:ln w="12700">
            <a:solidFill>
              <a:srgbClr val="EEF4F4"/>
            </a:solidFill>
            <a:prstDash val="solid"/>
          </a:ln>
        </p:spPr>
      </p:sp>
      <p:sp>
        <p:nvSpPr>
          <p:cNvPr id="38" name="Text 36"/>
          <p:cNvSpPr txBox="1"/>
          <p:nvPr/>
        </p:nvSpPr>
        <p:spPr>
          <a:xfrm>
            <a:off x="548640" y="3383280"/>
            <a:ext cx="2194560" cy="1005840"/>
          </a:xfrm>
          <a:prstGeom prst="rect">
            <a:avLst/>
          </a:prstGeom>
          <a:noFill/>
          <a:ln/>
        </p:spPr>
        <p:txBody>
          <a:bodyPr wrap="square" lIns="50800" tIns="50800" rIns="50800" bIns="50800" rtlCol="0" anchor="ctr"/>
          <a:lstStyle/>
          <a:p>
            <a:pPr algn="ctr" indent="0" marL="0">
              <a:buNone/>
            </a:pPr>
            <a:r>
              <a:rPr lang="en-US" sz="1400" b="1" dirty="0">
                <a:solidFill>
                  <a:srgbClr val="1D2A2E"/>
                </a:solidFill>
              </a:rPr>
              <a:t>Terraform</a:t>
            </a:r>
            <a:endParaRPr lang="en-US" sz="1400" dirty="0"/>
          </a:p>
          <a:p>
            <a:pPr algn="ctr" indent="0" marL="0">
              <a:buNone/>
            </a:pPr>
            <a:r>
              <a:rPr lang="en-US" sz="1100" dirty="0">
                <a:solidFill>
                  <a:srgbClr val="4B585C"/>
                </a:solidFill>
              </a:rPr>
              <a:t>AWS VPC + EKS</a:t>
            </a:r>
            <a:endParaRPr lang="en-US" sz="1400" dirty="0"/>
          </a:p>
        </p:txBody>
      </p:sp>
      <p:sp>
        <p:nvSpPr>
          <p:cNvPr id="39" name="Shape 37"/>
          <p:cNvSpPr/>
          <p:nvPr/>
        </p:nvSpPr>
        <p:spPr>
          <a:xfrm>
            <a:off x="2743200" y="3886200"/>
            <a:ext cx="548640" cy="914"/>
          </a:xfrm>
          <a:prstGeom prst="line">
            <a:avLst/>
          </a:prstGeom>
          <a:noFill/>
          <a:ln w="19050">
            <a:solidFill>
              <a:srgbClr val="5F6B6E"/>
            </a:solidFill>
            <a:prstDash val="solid"/>
            <a:tailEnd type="triangle"/>
          </a:ln>
        </p:spPr>
      </p:sp>
      <p:sp>
        <p:nvSpPr>
          <p:cNvPr id="40" name="Text 38"/>
          <p:cNvSpPr txBox="1"/>
          <p:nvPr/>
        </p:nvSpPr>
        <p:spPr>
          <a:xfrm>
            <a:off x="548640" y="4800600"/>
            <a:ext cx="2560320" cy="1097280"/>
          </a:xfrm>
          <a:prstGeom prst="rect">
            <a:avLst/>
          </a:prstGeom>
          <a:noFill/>
          <a:ln/>
        </p:spPr>
        <p:txBody>
          <a:bodyPr wrap="square" lIns="0" tIns="0" rIns="0" bIns="0" rtlCol="0" anchor="t"/>
          <a:lstStyle/>
          <a:p>
            <a:pPr indent="0" marL="0">
              <a:buNone/>
            </a:pPr>
            <a:r>
              <a:rPr lang="en-US" sz="1200" dirty="0">
                <a:solidFill>
                  <a:srgbClr val="4B585C"/>
                </a:solidFill>
              </a:rPr>
              <a:t>Browser → Ingress. Every change arrives as a Git commit; nobody runs kubectl apply by hand.</a:t>
            </a:r>
            <a:endParaRPr lang="en-US" sz="12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F3D47"/>
                </a:solidFill>
                <a:latin typeface="Arial" pitchFamily="34" charset="0"/>
                <a:ea typeface="Arial" pitchFamily="34" charset="-122"/>
                <a:cs typeface="Arial" pitchFamily="34" charset="-120"/>
              </a:rPr>
              <a:t>CI/CD: nothing reaches the registry untested or unscanned</a:t>
            </a:r>
            <a:endParaRPr lang="en-US" sz="3000" dirty="0"/>
          </a:p>
        </p:txBody>
      </p:sp>
      <p:sp>
        <p:nvSpPr>
          <p:cNvPr id="3" name="Shape 1"/>
          <p:cNvSpPr/>
          <p:nvPr/>
        </p:nvSpPr>
        <p:spPr>
          <a:xfrm>
            <a:off x="548640" y="1325880"/>
            <a:ext cx="5120640" cy="676656"/>
          </a:xfrm>
          <a:prstGeom prst="roundRect">
            <a:avLst>
              <a:gd name="adj" fmla="val 8108"/>
            </a:avLst>
          </a:prstGeom>
          <a:solidFill>
            <a:srgbClr val="EEF4F4"/>
          </a:solidFill>
          <a:ln/>
        </p:spPr>
      </p:sp>
      <p:sp>
        <p:nvSpPr>
          <p:cNvPr id="4" name="Text 2"/>
          <p:cNvSpPr txBox="1"/>
          <p:nvPr/>
        </p:nvSpPr>
        <p:spPr>
          <a:xfrm>
            <a:off x="685800" y="1325880"/>
            <a:ext cx="4892040" cy="676656"/>
          </a:xfrm>
          <a:prstGeom prst="rect">
            <a:avLst/>
          </a:prstGeom>
          <a:noFill/>
          <a:ln/>
        </p:spPr>
        <p:txBody>
          <a:bodyPr wrap="square" lIns="0" tIns="0" rIns="0" bIns="0" rtlCol="0" anchor="ctr"/>
          <a:lstStyle/>
          <a:p>
            <a:pPr indent="0" marL="0">
              <a:buNone/>
            </a:pPr>
            <a:r>
              <a:rPr lang="en-US" sz="1400" b="1" dirty="0">
                <a:solidFill>
                  <a:srgbClr val="1D2A2E"/>
                </a:solidFill>
              </a:rPr>
              <a:t>1  Quality gates</a:t>
            </a:r>
            <a:endParaRPr lang="en-US" sz="1400" dirty="0"/>
          </a:p>
          <a:p>
            <a:pPr indent="0" marL="0">
              <a:buNone/>
            </a:pPr>
            <a:r>
              <a:rPr lang="en-US" sz="1200" dirty="0">
                <a:solidFill>
                  <a:srgbClr val="4B585C"/>
                </a:solidFill>
              </a:rPr>
              <a:t>Ruff + pytest · npm build · terraform validate · helm lint · Trivy secrets</a:t>
            </a:r>
            <a:endParaRPr lang="en-US" sz="1400" dirty="0"/>
          </a:p>
        </p:txBody>
      </p:sp>
      <p:sp>
        <p:nvSpPr>
          <p:cNvPr id="5" name="Shape 3"/>
          <p:cNvSpPr/>
          <p:nvPr/>
        </p:nvSpPr>
        <p:spPr>
          <a:xfrm>
            <a:off x="548640" y="2112264"/>
            <a:ext cx="5120640" cy="676656"/>
          </a:xfrm>
          <a:prstGeom prst="roundRect">
            <a:avLst>
              <a:gd name="adj" fmla="val 8108"/>
            </a:avLst>
          </a:prstGeom>
          <a:solidFill>
            <a:srgbClr val="EEF4F4"/>
          </a:solidFill>
          <a:ln/>
        </p:spPr>
      </p:sp>
      <p:sp>
        <p:nvSpPr>
          <p:cNvPr id="6" name="Text 4"/>
          <p:cNvSpPr txBox="1"/>
          <p:nvPr/>
        </p:nvSpPr>
        <p:spPr>
          <a:xfrm>
            <a:off x="685800" y="2112264"/>
            <a:ext cx="4892040" cy="676656"/>
          </a:xfrm>
          <a:prstGeom prst="rect">
            <a:avLst/>
          </a:prstGeom>
          <a:noFill/>
          <a:ln/>
        </p:spPr>
        <p:txBody>
          <a:bodyPr wrap="square" lIns="0" tIns="0" rIns="0" bIns="0" rtlCol="0" anchor="ctr"/>
          <a:lstStyle/>
          <a:p>
            <a:pPr indent="0" marL="0">
              <a:buNone/>
            </a:pPr>
            <a:r>
              <a:rPr lang="en-US" sz="1400" b="1" dirty="0">
                <a:solidFill>
                  <a:srgbClr val="1D2A2E"/>
                </a:solidFill>
              </a:rPr>
              <a:t>2  Build</a:t>
            </a:r>
            <a:endParaRPr lang="en-US" sz="1400" dirty="0"/>
          </a:p>
          <a:p>
            <a:pPr indent="0" marL="0">
              <a:buNone/>
            </a:pPr>
            <a:r>
              <a:rPr lang="en-US" sz="1200" dirty="0">
                <a:solidFill>
                  <a:srgbClr val="4B585C"/>
                </a:solidFill>
              </a:rPr>
              <a:t>Backend and frontend images, tagged with the commit SHA (never latest)</a:t>
            </a:r>
            <a:endParaRPr lang="en-US" sz="1400" dirty="0"/>
          </a:p>
        </p:txBody>
      </p:sp>
      <p:sp>
        <p:nvSpPr>
          <p:cNvPr id="7" name="Shape 5"/>
          <p:cNvSpPr/>
          <p:nvPr/>
        </p:nvSpPr>
        <p:spPr>
          <a:xfrm>
            <a:off x="548640" y="2898648"/>
            <a:ext cx="5120640" cy="676656"/>
          </a:xfrm>
          <a:prstGeom prst="roundRect">
            <a:avLst>
              <a:gd name="adj" fmla="val 8108"/>
            </a:avLst>
          </a:prstGeom>
          <a:solidFill>
            <a:srgbClr val="FBEED6"/>
          </a:solidFill>
          <a:ln/>
        </p:spPr>
      </p:sp>
      <p:sp>
        <p:nvSpPr>
          <p:cNvPr id="8" name="Text 6"/>
          <p:cNvSpPr txBox="1"/>
          <p:nvPr/>
        </p:nvSpPr>
        <p:spPr>
          <a:xfrm>
            <a:off x="685800" y="2898648"/>
            <a:ext cx="4892040" cy="676656"/>
          </a:xfrm>
          <a:prstGeom prst="rect">
            <a:avLst/>
          </a:prstGeom>
          <a:noFill/>
          <a:ln/>
        </p:spPr>
        <p:txBody>
          <a:bodyPr wrap="square" lIns="0" tIns="0" rIns="0" bIns="0" rtlCol="0" anchor="ctr"/>
          <a:lstStyle/>
          <a:p>
            <a:pPr indent="0" marL="0">
              <a:buNone/>
            </a:pPr>
            <a:r>
              <a:rPr lang="en-US" sz="1400" b="1" dirty="0">
                <a:solidFill>
                  <a:srgbClr val="1D2A2E"/>
                </a:solidFill>
              </a:rPr>
              <a:t>3  Trivy gate</a:t>
            </a:r>
            <a:endParaRPr lang="en-US" sz="1400" dirty="0"/>
          </a:p>
          <a:p>
            <a:pPr indent="0" marL="0">
              <a:buNone/>
            </a:pPr>
            <a:r>
              <a:rPr lang="en-US" sz="1200" dirty="0">
                <a:solidFill>
                  <a:srgbClr val="4B585C"/>
                </a:solidFill>
              </a:rPr>
              <a:t>Fail on any fixable HIGH/CRITICAL CVE; SARIF to GitHub Security</a:t>
            </a:r>
            <a:endParaRPr lang="en-US" sz="1400" dirty="0"/>
          </a:p>
        </p:txBody>
      </p:sp>
      <p:sp>
        <p:nvSpPr>
          <p:cNvPr id="9" name="Shape 7"/>
          <p:cNvSpPr/>
          <p:nvPr/>
        </p:nvSpPr>
        <p:spPr>
          <a:xfrm>
            <a:off x="548640" y="3685032"/>
            <a:ext cx="5120640" cy="676656"/>
          </a:xfrm>
          <a:prstGeom prst="roundRect">
            <a:avLst>
              <a:gd name="adj" fmla="val 8108"/>
            </a:avLst>
          </a:prstGeom>
          <a:solidFill>
            <a:srgbClr val="EEF4F4"/>
          </a:solidFill>
          <a:ln/>
        </p:spPr>
      </p:sp>
      <p:sp>
        <p:nvSpPr>
          <p:cNvPr id="10" name="Text 8"/>
          <p:cNvSpPr txBox="1"/>
          <p:nvPr/>
        </p:nvSpPr>
        <p:spPr>
          <a:xfrm>
            <a:off x="685800" y="3685032"/>
            <a:ext cx="4892040" cy="676656"/>
          </a:xfrm>
          <a:prstGeom prst="rect">
            <a:avLst/>
          </a:prstGeom>
          <a:noFill/>
          <a:ln/>
        </p:spPr>
        <p:txBody>
          <a:bodyPr wrap="square" lIns="0" tIns="0" rIns="0" bIns="0" rtlCol="0" anchor="ctr"/>
          <a:lstStyle/>
          <a:p>
            <a:pPr indent="0" marL="0">
              <a:buNone/>
            </a:pPr>
            <a:r>
              <a:rPr lang="en-US" sz="1400" b="1" dirty="0">
                <a:solidFill>
                  <a:srgbClr val="1D2A2E"/>
                </a:solidFill>
              </a:rPr>
              <a:t>4  Push</a:t>
            </a:r>
            <a:endParaRPr lang="en-US" sz="1400" dirty="0"/>
          </a:p>
          <a:p>
            <a:pPr indent="0" marL="0">
              <a:buNone/>
            </a:pPr>
            <a:r>
              <a:rPr lang="en-US" sz="1200" dirty="0">
                <a:solidFill>
                  <a:srgbClr val="4B585C"/>
                </a:solidFill>
              </a:rPr>
              <a:t>Only scanned images go to ghcr.io/madarauchiha-tech/careslot-*</a:t>
            </a:r>
            <a:endParaRPr lang="en-US" sz="1400" dirty="0"/>
          </a:p>
        </p:txBody>
      </p:sp>
      <p:sp>
        <p:nvSpPr>
          <p:cNvPr id="11" name="Shape 9"/>
          <p:cNvSpPr/>
          <p:nvPr/>
        </p:nvSpPr>
        <p:spPr>
          <a:xfrm>
            <a:off x="548640" y="4471416"/>
            <a:ext cx="5120640" cy="676656"/>
          </a:xfrm>
          <a:prstGeom prst="roundRect">
            <a:avLst>
              <a:gd name="adj" fmla="val 8108"/>
            </a:avLst>
          </a:prstGeom>
          <a:solidFill>
            <a:srgbClr val="EEF4F4"/>
          </a:solidFill>
          <a:ln/>
        </p:spPr>
      </p:sp>
      <p:sp>
        <p:nvSpPr>
          <p:cNvPr id="12" name="Text 10"/>
          <p:cNvSpPr txBox="1"/>
          <p:nvPr/>
        </p:nvSpPr>
        <p:spPr>
          <a:xfrm>
            <a:off x="685800" y="4471416"/>
            <a:ext cx="4892040" cy="676656"/>
          </a:xfrm>
          <a:prstGeom prst="rect">
            <a:avLst/>
          </a:prstGeom>
          <a:noFill/>
          <a:ln/>
        </p:spPr>
        <p:txBody>
          <a:bodyPr wrap="square" lIns="0" tIns="0" rIns="0" bIns="0" rtlCol="0" anchor="ctr"/>
          <a:lstStyle/>
          <a:p>
            <a:pPr indent="0" marL="0">
              <a:buNone/>
            </a:pPr>
            <a:r>
              <a:rPr lang="en-US" sz="1400" b="1" dirty="0">
                <a:solidFill>
                  <a:srgbClr val="1D2A2E"/>
                </a:solidFill>
              </a:rPr>
              <a:t>5  Smoke test</a:t>
            </a:r>
            <a:endParaRPr lang="en-US" sz="1400" dirty="0"/>
          </a:p>
          <a:p>
            <a:pPr indent="0" marL="0">
              <a:buNone/>
            </a:pPr>
            <a:r>
              <a:rPr lang="en-US" sz="1200" dirty="0">
                <a:solidFill>
                  <a:srgbClr val="4B585C"/>
                </a:solidFill>
              </a:rPr>
              <a:t>kind cluster + helm upgrade --install + book a real appointment</a:t>
            </a:r>
            <a:endParaRPr lang="en-US" sz="1400" dirty="0"/>
          </a:p>
        </p:txBody>
      </p:sp>
      <p:sp>
        <p:nvSpPr>
          <p:cNvPr id="13" name="Shape 11"/>
          <p:cNvSpPr/>
          <p:nvPr/>
        </p:nvSpPr>
        <p:spPr>
          <a:xfrm>
            <a:off x="548640" y="5257800"/>
            <a:ext cx="5120640" cy="676656"/>
          </a:xfrm>
          <a:prstGeom prst="roundRect">
            <a:avLst>
              <a:gd name="adj" fmla="val 8108"/>
            </a:avLst>
          </a:prstGeom>
          <a:solidFill>
            <a:srgbClr val="EEF4F4"/>
          </a:solidFill>
          <a:ln/>
        </p:spPr>
      </p:sp>
      <p:sp>
        <p:nvSpPr>
          <p:cNvPr id="14" name="Text 12"/>
          <p:cNvSpPr txBox="1"/>
          <p:nvPr/>
        </p:nvSpPr>
        <p:spPr>
          <a:xfrm>
            <a:off x="685800" y="5257800"/>
            <a:ext cx="4892040" cy="676656"/>
          </a:xfrm>
          <a:prstGeom prst="rect">
            <a:avLst/>
          </a:prstGeom>
          <a:noFill/>
          <a:ln/>
        </p:spPr>
        <p:txBody>
          <a:bodyPr wrap="square" lIns="0" tIns="0" rIns="0" bIns="0" rtlCol="0" anchor="ctr"/>
          <a:lstStyle/>
          <a:p>
            <a:pPr indent="0" marL="0">
              <a:buNone/>
            </a:pPr>
            <a:r>
              <a:rPr lang="en-US" sz="1400" b="1" dirty="0">
                <a:solidFill>
                  <a:srgbClr val="1D2A2E"/>
                </a:solidFill>
              </a:rPr>
              <a:t>6  GitOps promote</a:t>
            </a:r>
            <a:endParaRPr lang="en-US" sz="1400" dirty="0"/>
          </a:p>
          <a:p>
            <a:pPr indent="0" marL="0">
              <a:buNone/>
            </a:pPr>
            <a:r>
              <a:rPr lang="en-US" sz="1200" dirty="0">
                <a:solidFill>
                  <a:srgbClr val="4B585C"/>
                </a:solidFill>
              </a:rPr>
              <a:t>CI commits the SHA into values.yaml; Argo CD rolls it out</a:t>
            </a:r>
            <a:endParaRPr lang="en-US" sz="1400" dirty="0"/>
          </a:p>
        </p:txBody>
      </p:sp>
      <p:sp>
        <p:nvSpPr>
          <p:cNvPr id="15" name="GitHub Actions run frame"/>
          <p:cNvSpPr/>
          <p:nvPr/>
        </p:nvSpPr>
        <p:spPr>
          <a:xfrm>
            <a:off x="6035040" y="1325880"/>
            <a:ext cx="5577840" cy="3483864"/>
          </a:xfrm>
          <a:prstGeom prst="rect">
            <a:avLst/>
          </a:prstGeom>
          <a:solidFill>
            <a:srgbClr val="FFFFFF"/>
          </a:solidFill>
          <a:ln w="9525">
            <a:solidFill>
              <a:srgbClr val="D5DEDF"/>
            </a:solidFill>
            <a:prstDash val="solid"/>
          </a:ln>
          <a:effectLst>
            <a:outerShdw sx="100000" sy="100000" kx="0" ky="0" algn="bl" rotWithShape="0" blurRad="101600" dist="38100" dir="5400000">
              <a:srgbClr val="1D2A2E">
                <a:alpha val="18000"/>
              </a:srgbClr>
            </a:outerShdw>
          </a:effectLst>
        </p:spPr>
      </p:sp>
      <p:pic>
        <p:nvPicPr>
          <p:cNvPr id="16" name="GitHub Actions run" descr="/Users/navjeetsingh/projects/devsecops-python/demo/screenshots/10-github-actions-run.png">    </p:cNvPr>
          <p:cNvPicPr>
            <a:picLocks noChangeAspect="1"/>
          </p:cNvPicPr>
          <p:nvPr/>
        </p:nvPicPr>
        <p:blipFill>
          <a:blip r:embed="rId1"/>
          <a:stretch>
            <a:fillRect/>
          </a:stretch>
        </p:blipFill>
        <p:spPr>
          <a:xfrm>
            <a:off x="6071616" y="1362456"/>
            <a:ext cx="5504688" cy="3410712"/>
          </a:xfrm>
          <a:prstGeom prst="rect">
            <a:avLst/>
          </a:prstGeom>
        </p:spPr>
      </p:pic>
      <p:sp>
        <p:nvSpPr>
          <p:cNvPr id="17" name="Text 14"/>
          <p:cNvSpPr txBox="1"/>
          <p:nvPr/>
        </p:nvSpPr>
        <p:spPr>
          <a:xfrm>
            <a:off x="6035040" y="4937760"/>
            <a:ext cx="5577840" cy="320040"/>
          </a:xfrm>
          <a:prstGeom prst="rect">
            <a:avLst/>
          </a:prstGeom>
          <a:noFill/>
          <a:ln/>
        </p:spPr>
        <p:txBody>
          <a:bodyPr wrap="square" lIns="0" tIns="0" rIns="0" bIns="0" rtlCol="0" anchor="ctr"/>
          <a:lstStyle/>
          <a:p>
            <a:pPr indent="0" marL="0">
              <a:buNone/>
            </a:pPr>
            <a:r>
              <a:rPr lang="en-US" sz="1200" i="1" dirty="0">
                <a:solidFill>
                  <a:srgbClr val="5F6B6E"/>
                </a:solidFill>
              </a:rPr>
              <a:t>Run #3: all 8 jobs green in 2m 55s · images in GHCR tagged a4a589b…</a:t>
            </a:r>
            <a:endParaRPr lang="en-US" sz="12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F3D47"/>
                </a:solidFill>
                <a:latin typeface="Arial" pitchFamily="34" charset="0"/>
                <a:ea typeface="Arial" pitchFamily="34" charset="-122"/>
                <a:cs typeface="Arial" pitchFamily="34" charset="-120"/>
              </a:rPr>
              <a:t>DevSecOps: Trivy blocked a real vulnerability</a:t>
            </a:r>
            <a:endParaRPr lang="en-US" sz="3000" dirty="0"/>
          </a:p>
        </p:txBody>
      </p:sp>
      <p:sp>
        <p:nvSpPr>
          <p:cNvPr id="3" name="Text 1"/>
          <p:cNvSpPr txBox="1"/>
          <p:nvPr/>
        </p:nvSpPr>
        <p:spPr>
          <a:xfrm>
            <a:off x="548640" y="1280160"/>
            <a:ext cx="1463040" cy="914400"/>
          </a:xfrm>
          <a:prstGeom prst="rect">
            <a:avLst/>
          </a:prstGeom>
          <a:noFill/>
          <a:ln/>
        </p:spPr>
        <p:txBody>
          <a:bodyPr wrap="square" lIns="0" tIns="0" rIns="0" bIns="0" rtlCol="0" anchor="ctr"/>
          <a:lstStyle/>
          <a:p>
            <a:pPr indent="0" marL="0">
              <a:buNone/>
            </a:pPr>
            <a:r>
              <a:rPr lang="en-US" sz="6000" b="1" dirty="0">
                <a:solidFill>
                  <a:schemeClr val="accent4"/>
                </a:solidFill>
                <a:latin typeface="Arial" pitchFamily="34" charset="0"/>
                <a:ea typeface="Arial" pitchFamily="34" charset="-122"/>
                <a:cs typeface="Arial" pitchFamily="34" charset="-120"/>
              </a:rPr>
              <a:t>7</a:t>
            </a:r>
            <a:endParaRPr lang="en-US" sz="6000" dirty="0"/>
          </a:p>
        </p:txBody>
      </p:sp>
      <p:sp>
        <p:nvSpPr>
          <p:cNvPr id="4" name="Text 2"/>
          <p:cNvSpPr txBox="1"/>
          <p:nvPr/>
        </p:nvSpPr>
        <p:spPr>
          <a:xfrm>
            <a:off x="548640" y="2194560"/>
            <a:ext cx="2377440" cy="548640"/>
          </a:xfrm>
          <a:prstGeom prst="rect">
            <a:avLst/>
          </a:prstGeom>
          <a:noFill/>
          <a:ln/>
        </p:spPr>
        <p:txBody>
          <a:bodyPr wrap="square" lIns="0" tIns="0" rIns="0" bIns="0" rtlCol="0" anchor="ctr"/>
          <a:lstStyle/>
          <a:p>
            <a:pPr indent="0" marL="0">
              <a:buNone/>
            </a:pPr>
            <a:r>
              <a:rPr lang="en-US" sz="1300" dirty="0">
                <a:solidFill>
                  <a:srgbClr val="4B585C"/>
                </a:solidFill>
              </a:rPr>
              <a:t>HIGH CVEs in the first backend image</a:t>
            </a:r>
            <a:endParaRPr lang="en-US" sz="1300" dirty="0"/>
          </a:p>
        </p:txBody>
      </p:sp>
      <p:pic>
        <p:nvPicPr>
          <p:cNvPr id="5" name="Image 0" descr="preencoded.png">    </p:cNvPr>
          <p:cNvPicPr>
            <a:picLocks noChangeAspect="1"/>
          </p:cNvPicPr>
          <p:nvPr/>
        </p:nvPicPr>
        <p:blipFill>
          <a:blip r:embed="rId1"/>
          <a:stretch>
            <a:fillRect/>
          </a:stretch>
        </p:blipFill>
        <p:spPr>
          <a:xfrm>
            <a:off x="3063240" y="1600200"/>
            <a:ext cx="457200" cy="457200"/>
          </a:xfrm>
          <a:prstGeom prst="rect">
            <a:avLst/>
          </a:prstGeom>
        </p:spPr>
      </p:pic>
      <p:sp>
        <p:nvSpPr>
          <p:cNvPr id="6" name="Text 3"/>
          <p:cNvSpPr txBox="1"/>
          <p:nvPr/>
        </p:nvSpPr>
        <p:spPr>
          <a:xfrm>
            <a:off x="3840480" y="1280160"/>
            <a:ext cx="1463040" cy="914400"/>
          </a:xfrm>
          <a:prstGeom prst="rect">
            <a:avLst/>
          </a:prstGeom>
          <a:noFill/>
          <a:ln/>
        </p:spPr>
        <p:txBody>
          <a:bodyPr wrap="square" lIns="0" tIns="0" rIns="0" bIns="0" rtlCol="0" anchor="ctr"/>
          <a:lstStyle/>
          <a:p>
            <a:pPr indent="0" marL="0">
              <a:buNone/>
            </a:pPr>
            <a:r>
              <a:rPr lang="en-US" sz="6000" b="1" dirty="0">
                <a:solidFill>
                  <a:schemeClr val="accent3"/>
                </a:solidFill>
                <a:latin typeface="Arial" pitchFamily="34" charset="0"/>
                <a:ea typeface="Arial" pitchFamily="34" charset="-122"/>
                <a:cs typeface="Arial" pitchFamily="34" charset="-120"/>
              </a:rPr>
              <a:t>0</a:t>
            </a:r>
            <a:endParaRPr lang="en-US" sz="6000" dirty="0"/>
          </a:p>
        </p:txBody>
      </p:sp>
      <p:sp>
        <p:nvSpPr>
          <p:cNvPr id="7" name="Text 4"/>
          <p:cNvSpPr txBox="1"/>
          <p:nvPr/>
        </p:nvSpPr>
        <p:spPr>
          <a:xfrm>
            <a:off x="3840480" y="2194560"/>
            <a:ext cx="2377440" cy="548640"/>
          </a:xfrm>
          <a:prstGeom prst="rect">
            <a:avLst/>
          </a:prstGeom>
          <a:noFill/>
          <a:ln/>
        </p:spPr>
        <p:txBody>
          <a:bodyPr wrap="square" lIns="0" tIns="0" rIns="0" bIns="0" rtlCol="0" anchor="ctr"/>
          <a:lstStyle/>
          <a:p>
            <a:pPr indent="0" marL="0">
              <a:buNone/>
            </a:pPr>
            <a:r>
              <a:rPr lang="en-US" sz="1300" dirty="0">
                <a:solidFill>
                  <a:srgbClr val="4B585C"/>
                </a:solidFill>
              </a:rPr>
              <a:t>fixable HIGH/CRITICAL in both images now</a:t>
            </a:r>
            <a:endParaRPr lang="en-US" sz="1300" dirty="0"/>
          </a:p>
        </p:txBody>
      </p:sp>
      <p:sp>
        <p:nvSpPr>
          <p:cNvPr id="8" name="Text 5"/>
          <p:cNvSpPr txBox="1"/>
          <p:nvPr/>
        </p:nvSpPr>
        <p:spPr>
          <a:xfrm>
            <a:off x="548640" y="2926080"/>
            <a:ext cx="5669280" cy="2011680"/>
          </a:xfrm>
          <a:prstGeom prst="rect">
            <a:avLst/>
          </a:prstGeom>
          <a:noFill/>
          <a:ln/>
        </p:spPr>
        <p:txBody>
          <a:bodyPr wrap="square" lIns="0" tIns="0" rIns="0" bIns="0" rtlCol="0" anchor="t"/>
          <a:lstStyle/>
          <a:p>
            <a:pPr indent="0" marL="0">
              <a:spcAft>
                <a:spcPts val="600"/>
              </a:spcAft>
              <a:buNone/>
            </a:pPr>
            <a:r>
              <a:rPr lang="en-US" sz="1400" b="1" dirty="0">
                <a:solidFill>
                  <a:srgbClr val="1D2A2E"/>
                </a:solidFill>
              </a:rPr>
              <a:t>CVE-2025-62727 · Starlette 0.48.0</a:t>
            </a:r>
            <a:endParaRPr lang="en-US" sz="1400" dirty="0"/>
          </a:p>
          <a:p>
            <a:pPr indent="0" marL="0">
              <a:spcAft>
                <a:spcPts val="600"/>
              </a:spcAft>
              <a:buNone/>
            </a:pPr>
            <a:r>
              <a:rPr lang="en-US" sz="1400" dirty="0">
                <a:solidFill>
                  <a:srgbClr val="4B585C"/>
                </a:solidFill>
              </a:rPr>
              <a:t>A request with many overlapping Range headers made Starlette do quadratic work merging them: a few requests could pin a CPU (denial of service). Fixed in 0.49.1.</a:t>
            </a:r>
            <a:endParaRPr lang="en-US" sz="1400" dirty="0"/>
          </a:p>
          <a:p>
            <a:pPr indent="0" marL="0">
              <a:spcAft>
                <a:spcPts val="600"/>
              </a:spcAft>
              <a:buNone/>
            </a:pPr>
            <a:r>
              <a:rPr lang="en-US" sz="1400" dirty="0">
                <a:solidFill>
                  <a:srgbClr val="4B585C"/>
                </a:solidFill>
              </a:rPr>
              <a:t>Fix: upgrade FastAPI/Starlette, and strip pip and setuptools (and their vendored urllib3) from the runtime image.</a:t>
            </a:r>
            <a:endParaRPr lang="en-US" sz="1400" dirty="0"/>
          </a:p>
        </p:txBody>
      </p:sp>
      <p:sp>
        <p:nvSpPr>
          <p:cNvPr id="9" name="Text 6"/>
          <p:cNvSpPr txBox="1"/>
          <p:nvPr/>
        </p:nvSpPr>
        <p:spPr>
          <a:xfrm>
            <a:off x="548640" y="5029200"/>
            <a:ext cx="5669280" cy="822960"/>
          </a:xfrm>
          <a:prstGeom prst="rect">
            <a:avLst/>
          </a:prstGeom>
          <a:noFill/>
          <a:ln/>
        </p:spPr>
        <p:txBody>
          <a:bodyPr wrap="square" lIns="0" tIns="0" rIns="0" bIns="0" rtlCol="0" anchor="t"/>
          <a:lstStyle/>
          <a:p>
            <a:pPr indent="0" marL="0">
              <a:buNone/>
            </a:pPr>
            <a:r>
              <a:rPr lang="en-US" sz="1200" dirty="0">
                <a:solidFill>
                  <a:srgbClr val="4B585C"/>
                </a:solidFill>
              </a:rPr>
              <a:t>Also: Trivy secret scan (blocking) · IaC scan led to KMS-encrypted EKS secrets and a read-only Postgres rootfs · non-root pods, all capabilities dropped</a:t>
            </a:r>
            <a:endParaRPr lang="en-US" sz="1200" dirty="0"/>
          </a:p>
        </p:txBody>
      </p:sp>
      <p:sp>
        <p:nvSpPr>
          <p:cNvPr id="10" name="Trivy findings before fix frame"/>
          <p:cNvSpPr/>
          <p:nvPr/>
        </p:nvSpPr>
        <p:spPr>
          <a:xfrm>
            <a:off x="6492240" y="1325880"/>
            <a:ext cx="5193792" cy="1397025"/>
          </a:xfrm>
          <a:prstGeom prst="rect">
            <a:avLst/>
          </a:prstGeom>
          <a:solidFill>
            <a:srgbClr val="FFFFFF"/>
          </a:solidFill>
          <a:ln w="9525">
            <a:solidFill>
              <a:srgbClr val="D5DEDF"/>
            </a:solidFill>
            <a:prstDash val="solid"/>
          </a:ln>
          <a:effectLst>
            <a:outerShdw sx="100000" sy="100000" kx="0" ky="0" algn="bl" rotWithShape="0" blurRad="101600" dist="38100" dir="5400000">
              <a:srgbClr val="1D2A2E">
                <a:alpha val="18000"/>
              </a:srgbClr>
            </a:outerShdw>
          </a:effectLst>
        </p:spPr>
      </p:sp>
      <p:pic>
        <p:nvPicPr>
          <p:cNvPr id="11" name="Trivy findings before fix" descr="/Users/navjeetsingh/projects/devsecops-python/demo/screenshots/43-trivy-cve-found.png">    </p:cNvPr>
          <p:cNvPicPr>
            <a:picLocks noChangeAspect="1"/>
          </p:cNvPicPr>
          <p:nvPr/>
        </p:nvPicPr>
        <p:blipFill>
          <a:blip r:embed="rId2"/>
          <a:stretch>
            <a:fillRect/>
          </a:stretch>
        </p:blipFill>
        <p:spPr>
          <a:xfrm>
            <a:off x="6528816" y="1362456"/>
            <a:ext cx="5120640" cy="1323873"/>
          </a:xfrm>
          <a:prstGeom prst="rect">
            <a:avLst/>
          </a:prstGeom>
        </p:spPr>
      </p:pic>
      <p:sp>
        <p:nvSpPr>
          <p:cNvPr id="12" name="Trivy clean after fix frame"/>
          <p:cNvSpPr/>
          <p:nvPr/>
        </p:nvSpPr>
        <p:spPr>
          <a:xfrm>
            <a:off x="6492240" y="3063240"/>
            <a:ext cx="5193792" cy="1819697"/>
          </a:xfrm>
          <a:prstGeom prst="rect">
            <a:avLst/>
          </a:prstGeom>
          <a:solidFill>
            <a:srgbClr val="FFFFFF"/>
          </a:solidFill>
          <a:ln w="9525">
            <a:solidFill>
              <a:srgbClr val="D5DEDF"/>
            </a:solidFill>
            <a:prstDash val="solid"/>
          </a:ln>
          <a:effectLst>
            <a:outerShdw sx="100000" sy="100000" kx="0" ky="0" algn="bl" rotWithShape="0" blurRad="101600" dist="38100" dir="5400000">
              <a:srgbClr val="1D2A2E">
                <a:alpha val="18000"/>
              </a:srgbClr>
            </a:outerShdw>
          </a:effectLst>
        </p:spPr>
      </p:sp>
      <p:pic>
        <p:nvPicPr>
          <p:cNvPr id="13" name="Trivy clean after fix" descr="/Users/navjeetsingh/projects/devsecops-python/demo/screenshots/45-trivy-ci-backend-clean.png">    </p:cNvPr>
          <p:cNvPicPr>
            <a:picLocks noChangeAspect="1"/>
          </p:cNvPicPr>
          <p:nvPr/>
        </p:nvPicPr>
        <p:blipFill>
          <a:blip r:embed="rId3"/>
          <a:stretch>
            <a:fillRect/>
          </a:stretch>
        </p:blipFill>
        <p:spPr>
          <a:xfrm>
            <a:off x="6528816" y="3099816"/>
            <a:ext cx="5120640" cy="1746545"/>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F3D47"/>
                </a:solidFill>
                <a:latin typeface="Arial" pitchFamily="34" charset="0"/>
                <a:ea typeface="Arial" pitchFamily="34" charset="-122"/>
                <a:cs typeface="Arial" pitchFamily="34" charset="-120"/>
              </a:rPr>
              <a:t>Infrastructure as Code: VPC + EKS in Terraform</a:t>
            </a:r>
            <a:endParaRPr lang="en-US" sz="3000" dirty="0"/>
          </a:p>
        </p:txBody>
      </p:sp>
      <p:sp>
        <p:nvSpPr>
          <p:cNvPr id="3" name="Shape 1"/>
          <p:cNvSpPr/>
          <p:nvPr/>
        </p:nvSpPr>
        <p:spPr>
          <a:xfrm>
            <a:off x="548640" y="1325880"/>
            <a:ext cx="5852160" cy="3931920"/>
          </a:xfrm>
          <a:prstGeom prst="roundRect">
            <a:avLst>
              <a:gd name="adj" fmla="val 1860"/>
            </a:avLst>
          </a:prstGeom>
          <a:solidFill>
            <a:srgbClr val="F7FAFA"/>
          </a:solidFill>
          <a:ln w="15875">
            <a:solidFill>
              <a:srgbClr val="0F6B74"/>
            </a:solidFill>
            <a:prstDash val="solid"/>
          </a:ln>
        </p:spPr>
      </p:sp>
      <p:sp>
        <p:nvSpPr>
          <p:cNvPr id="4" name="Text 2"/>
          <p:cNvSpPr txBox="1"/>
          <p:nvPr/>
        </p:nvSpPr>
        <p:spPr>
          <a:xfrm>
            <a:off x="731520" y="1417320"/>
            <a:ext cx="4572000" cy="320040"/>
          </a:xfrm>
          <a:prstGeom prst="rect">
            <a:avLst/>
          </a:prstGeom>
          <a:noFill/>
          <a:ln/>
        </p:spPr>
        <p:txBody>
          <a:bodyPr wrap="square" lIns="0" tIns="0" rIns="0" bIns="0" rtlCol="0" anchor="ctr"/>
          <a:lstStyle/>
          <a:p>
            <a:pPr indent="0" marL="0">
              <a:buNone/>
            </a:pPr>
            <a:r>
              <a:rPr lang="en-US" sz="1300" b="1" dirty="0">
                <a:solidFill>
                  <a:schemeClr val="accent1"/>
                </a:solidFill>
              </a:rPr>
              <a:t>VPC 10.20.0.0/16 · ap-south-1</a:t>
            </a:r>
            <a:endParaRPr lang="en-US" sz="1300" dirty="0"/>
          </a:p>
        </p:txBody>
      </p:sp>
      <p:sp>
        <p:nvSpPr>
          <p:cNvPr id="5" name="Text 3"/>
          <p:cNvSpPr txBox="1"/>
          <p:nvPr/>
        </p:nvSpPr>
        <p:spPr>
          <a:xfrm>
            <a:off x="777240" y="1783080"/>
            <a:ext cx="2560320" cy="274320"/>
          </a:xfrm>
          <a:prstGeom prst="rect">
            <a:avLst/>
          </a:prstGeom>
          <a:noFill/>
          <a:ln/>
        </p:spPr>
        <p:txBody>
          <a:bodyPr wrap="square" lIns="0" tIns="0" rIns="0" bIns="0" rtlCol="0" anchor="ctr"/>
          <a:lstStyle/>
          <a:p>
            <a:pPr indent="0" marL="0">
              <a:buNone/>
            </a:pPr>
            <a:r>
              <a:rPr lang="en-US" sz="1100" dirty="0">
                <a:solidFill>
                  <a:srgbClr val="5F6B6E"/>
                </a:solidFill>
              </a:rPr>
              <a:t>ap-south-1a</a:t>
            </a:r>
            <a:endParaRPr lang="en-US" sz="1100" dirty="0"/>
          </a:p>
        </p:txBody>
      </p:sp>
      <p:sp>
        <p:nvSpPr>
          <p:cNvPr id="6" name="Shape 4"/>
          <p:cNvSpPr/>
          <p:nvPr/>
        </p:nvSpPr>
        <p:spPr>
          <a:xfrm>
            <a:off x="777240" y="2103120"/>
            <a:ext cx="2560320" cy="914400"/>
          </a:xfrm>
          <a:prstGeom prst="roundRect">
            <a:avLst>
              <a:gd name="adj" fmla="val 5000"/>
            </a:avLst>
          </a:prstGeom>
          <a:solidFill>
            <a:srgbClr val="E3ECF6"/>
          </a:solidFill>
          <a:ln/>
        </p:spPr>
      </p:sp>
      <p:sp>
        <p:nvSpPr>
          <p:cNvPr id="7" name="Text 5"/>
          <p:cNvSpPr txBox="1"/>
          <p:nvPr/>
        </p:nvSpPr>
        <p:spPr>
          <a:xfrm>
            <a:off x="777240" y="2103120"/>
            <a:ext cx="2560320" cy="914400"/>
          </a:xfrm>
          <a:prstGeom prst="rect">
            <a:avLst/>
          </a:prstGeom>
          <a:noFill/>
          <a:ln/>
        </p:spPr>
        <p:txBody>
          <a:bodyPr wrap="square" lIns="25400" tIns="25400" rIns="25400" bIns="25400" rtlCol="0" anchor="ctr"/>
          <a:lstStyle/>
          <a:p>
            <a:pPr algn="ctr" indent="0" marL="0">
              <a:buNone/>
            </a:pPr>
            <a:r>
              <a:rPr lang="en-US" sz="1200" b="1" dirty="0">
                <a:solidFill>
                  <a:srgbClr val="1D2A2E"/>
                </a:solidFill>
              </a:rPr>
              <a:t>Public subnet</a:t>
            </a:r>
            <a:endParaRPr lang="en-US" sz="1200" dirty="0"/>
          </a:p>
          <a:p>
            <a:pPr algn="ctr" indent="0" marL="0">
              <a:buNone/>
            </a:pPr>
            <a:r>
              <a:rPr lang="en-US" sz="1200" dirty="0">
                <a:solidFill>
                  <a:srgbClr val="1D2A2E"/>
                </a:solidFill>
              </a:rPr>
              <a:t>10.20.101.0/24 · NAT gateway</a:t>
            </a:r>
            <a:endParaRPr lang="en-US" sz="1200" dirty="0"/>
          </a:p>
        </p:txBody>
      </p:sp>
      <p:sp>
        <p:nvSpPr>
          <p:cNvPr id="8" name="Shape 6"/>
          <p:cNvSpPr/>
          <p:nvPr/>
        </p:nvSpPr>
        <p:spPr>
          <a:xfrm>
            <a:off x="777240" y="3200400"/>
            <a:ext cx="2560320" cy="914400"/>
          </a:xfrm>
          <a:prstGeom prst="roundRect">
            <a:avLst>
              <a:gd name="adj" fmla="val 5000"/>
            </a:avLst>
          </a:prstGeom>
          <a:solidFill>
            <a:srgbClr val="E2F0E5"/>
          </a:solidFill>
          <a:ln/>
        </p:spPr>
      </p:sp>
      <p:sp>
        <p:nvSpPr>
          <p:cNvPr id="9" name="Text 7"/>
          <p:cNvSpPr txBox="1"/>
          <p:nvPr/>
        </p:nvSpPr>
        <p:spPr>
          <a:xfrm>
            <a:off x="777240" y="3200400"/>
            <a:ext cx="2560320" cy="914400"/>
          </a:xfrm>
          <a:prstGeom prst="rect">
            <a:avLst/>
          </a:prstGeom>
          <a:noFill/>
          <a:ln/>
        </p:spPr>
        <p:txBody>
          <a:bodyPr wrap="square" lIns="25400" tIns="25400" rIns="25400" bIns="25400" rtlCol="0" anchor="ctr"/>
          <a:lstStyle/>
          <a:p>
            <a:pPr algn="ctr" indent="0" marL="0">
              <a:buNone/>
            </a:pPr>
            <a:r>
              <a:rPr lang="en-US" sz="1200" b="1" dirty="0">
                <a:solidFill>
                  <a:srgbClr val="1D2A2E"/>
                </a:solidFill>
              </a:rPr>
              <a:t>Private subnet</a:t>
            </a:r>
            <a:endParaRPr lang="en-US" sz="1200" dirty="0"/>
          </a:p>
          <a:p>
            <a:pPr algn="ctr" indent="0" marL="0">
              <a:buNone/>
            </a:pPr>
            <a:r>
              <a:rPr lang="en-US" sz="1200" dirty="0">
                <a:solidFill>
                  <a:srgbClr val="1D2A2E"/>
                </a:solidFill>
              </a:rPr>
              <a:t>10.20.1.0/24 · worker nodes</a:t>
            </a:r>
            <a:endParaRPr lang="en-US" sz="1200" dirty="0"/>
          </a:p>
        </p:txBody>
      </p:sp>
      <p:sp>
        <p:nvSpPr>
          <p:cNvPr id="10" name="Text 8"/>
          <p:cNvSpPr txBox="1"/>
          <p:nvPr/>
        </p:nvSpPr>
        <p:spPr>
          <a:xfrm>
            <a:off x="3611880" y="1783080"/>
            <a:ext cx="2560320" cy="274320"/>
          </a:xfrm>
          <a:prstGeom prst="rect">
            <a:avLst/>
          </a:prstGeom>
          <a:noFill/>
          <a:ln/>
        </p:spPr>
        <p:txBody>
          <a:bodyPr wrap="square" lIns="0" tIns="0" rIns="0" bIns="0" rtlCol="0" anchor="ctr"/>
          <a:lstStyle/>
          <a:p>
            <a:pPr indent="0" marL="0">
              <a:buNone/>
            </a:pPr>
            <a:r>
              <a:rPr lang="en-US" sz="1100" dirty="0">
                <a:solidFill>
                  <a:srgbClr val="5F6B6E"/>
                </a:solidFill>
              </a:rPr>
              <a:t>ap-south-1b</a:t>
            </a:r>
            <a:endParaRPr lang="en-US" sz="1100" dirty="0"/>
          </a:p>
        </p:txBody>
      </p:sp>
      <p:sp>
        <p:nvSpPr>
          <p:cNvPr id="11" name="Shape 9"/>
          <p:cNvSpPr/>
          <p:nvPr/>
        </p:nvSpPr>
        <p:spPr>
          <a:xfrm>
            <a:off x="3611880" y="2103120"/>
            <a:ext cx="2560320" cy="914400"/>
          </a:xfrm>
          <a:prstGeom prst="roundRect">
            <a:avLst>
              <a:gd name="adj" fmla="val 5000"/>
            </a:avLst>
          </a:prstGeom>
          <a:solidFill>
            <a:srgbClr val="E3ECF6"/>
          </a:solidFill>
          <a:ln/>
        </p:spPr>
      </p:sp>
      <p:sp>
        <p:nvSpPr>
          <p:cNvPr id="12" name="Text 10"/>
          <p:cNvSpPr txBox="1"/>
          <p:nvPr/>
        </p:nvSpPr>
        <p:spPr>
          <a:xfrm>
            <a:off x="3611880" y="2103120"/>
            <a:ext cx="2560320" cy="914400"/>
          </a:xfrm>
          <a:prstGeom prst="rect">
            <a:avLst/>
          </a:prstGeom>
          <a:noFill/>
          <a:ln/>
        </p:spPr>
        <p:txBody>
          <a:bodyPr wrap="square" lIns="25400" tIns="25400" rIns="25400" bIns="25400" rtlCol="0" anchor="ctr"/>
          <a:lstStyle/>
          <a:p>
            <a:pPr algn="ctr" indent="0" marL="0">
              <a:buNone/>
            </a:pPr>
            <a:r>
              <a:rPr lang="en-US" sz="1200" b="1" dirty="0">
                <a:solidFill>
                  <a:srgbClr val="1D2A2E"/>
                </a:solidFill>
              </a:rPr>
              <a:t>Public subnet</a:t>
            </a:r>
            <a:endParaRPr lang="en-US" sz="1200" dirty="0"/>
          </a:p>
          <a:p>
            <a:pPr algn="ctr" indent="0" marL="0">
              <a:buNone/>
            </a:pPr>
            <a:r>
              <a:rPr lang="en-US" sz="1200" dirty="0">
                <a:solidFill>
                  <a:srgbClr val="1D2A2E"/>
                </a:solidFill>
              </a:rPr>
              <a:t>10.20.102.0/24 · ELB-tagged</a:t>
            </a:r>
            <a:endParaRPr lang="en-US" sz="1200" dirty="0"/>
          </a:p>
        </p:txBody>
      </p:sp>
      <p:sp>
        <p:nvSpPr>
          <p:cNvPr id="13" name="Shape 11"/>
          <p:cNvSpPr/>
          <p:nvPr/>
        </p:nvSpPr>
        <p:spPr>
          <a:xfrm>
            <a:off x="3611880" y="3200400"/>
            <a:ext cx="2560320" cy="914400"/>
          </a:xfrm>
          <a:prstGeom prst="roundRect">
            <a:avLst>
              <a:gd name="adj" fmla="val 5000"/>
            </a:avLst>
          </a:prstGeom>
          <a:solidFill>
            <a:srgbClr val="E2F0E5"/>
          </a:solidFill>
          <a:ln/>
        </p:spPr>
      </p:sp>
      <p:sp>
        <p:nvSpPr>
          <p:cNvPr id="14" name="Text 12"/>
          <p:cNvSpPr txBox="1"/>
          <p:nvPr/>
        </p:nvSpPr>
        <p:spPr>
          <a:xfrm>
            <a:off x="3611880" y="3200400"/>
            <a:ext cx="2560320" cy="914400"/>
          </a:xfrm>
          <a:prstGeom prst="rect">
            <a:avLst/>
          </a:prstGeom>
          <a:noFill/>
          <a:ln/>
        </p:spPr>
        <p:txBody>
          <a:bodyPr wrap="square" lIns="25400" tIns="25400" rIns="25400" bIns="25400" rtlCol="0" anchor="ctr"/>
          <a:lstStyle/>
          <a:p>
            <a:pPr algn="ctr" indent="0" marL="0">
              <a:buNone/>
            </a:pPr>
            <a:r>
              <a:rPr lang="en-US" sz="1200" b="1" dirty="0">
                <a:solidFill>
                  <a:srgbClr val="1D2A2E"/>
                </a:solidFill>
              </a:rPr>
              <a:t>Private subnet</a:t>
            </a:r>
            <a:endParaRPr lang="en-US" sz="1200" dirty="0"/>
          </a:p>
          <a:p>
            <a:pPr algn="ctr" indent="0" marL="0">
              <a:buNone/>
            </a:pPr>
            <a:r>
              <a:rPr lang="en-US" sz="1200" dirty="0">
                <a:solidFill>
                  <a:srgbClr val="1D2A2E"/>
                </a:solidFill>
              </a:rPr>
              <a:t>10.20.2.0/24 · worker nodes</a:t>
            </a:r>
            <a:endParaRPr lang="en-US" sz="1200" dirty="0"/>
          </a:p>
        </p:txBody>
      </p:sp>
      <p:sp>
        <p:nvSpPr>
          <p:cNvPr id="15" name="Shape 13"/>
          <p:cNvSpPr/>
          <p:nvPr/>
        </p:nvSpPr>
        <p:spPr>
          <a:xfrm>
            <a:off x="777240" y="4297680"/>
            <a:ext cx="5394960" cy="777240"/>
          </a:xfrm>
          <a:prstGeom prst="roundRect">
            <a:avLst>
              <a:gd name="adj" fmla="val 5882"/>
            </a:avLst>
          </a:prstGeom>
          <a:solidFill>
            <a:srgbClr val="0F3D47"/>
          </a:solidFill>
          <a:ln/>
        </p:spPr>
      </p:sp>
      <p:sp>
        <p:nvSpPr>
          <p:cNvPr id="16" name="Text 14"/>
          <p:cNvSpPr txBox="1"/>
          <p:nvPr/>
        </p:nvSpPr>
        <p:spPr>
          <a:xfrm>
            <a:off x="777240" y="4297680"/>
            <a:ext cx="5394960" cy="777240"/>
          </a:xfrm>
          <a:prstGeom prst="rect">
            <a:avLst/>
          </a:prstGeom>
          <a:noFill/>
          <a:ln/>
        </p:spPr>
        <p:txBody>
          <a:bodyPr wrap="square" lIns="25400" tIns="25400" rIns="25400" bIns="25400" rtlCol="0" anchor="ctr"/>
          <a:lstStyle/>
          <a:p>
            <a:pPr algn="ctr" indent="0" marL="0">
              <a:buNone/>
            </a:pPr>
            <a:r>
              <a:rPr lang="en-US" sz="1200" b="1" dirty="0">
                <a:solidFill>
                  <a:srgbClr val="FFFFFF"/>
                </a:solidFill>
              </a:rPr>
              <a:t>EKS careslot-dev · Kubernetes 1.33</a:t>
            </a:r>
            <a:endParaRPr lang="en-US" sz="1200" dirty="0"/>
          </a:p>
          <a:p>
            <a:pPr algn="ctr" indent="0" marL="0">
              <a:buNone/>
            </a:pPr>
            <a:r>
              <a:rPr lang="en-US" sz="1200" dirty="0">
                <a:solidFill>
                  <a:srgbClr val="FFFFFF"/>
                </a:solidFill>
              </a:rPr>
              <a:t>managed node group t3.medium ×2 (max 4) · KMS-encrypted secrets · audit logs</a:t>
            </a:r>
            <a:endParaRPr lang="en-US" sz="1200" dirty="0"/>
          </a:p>
        </p:txBody>
      </p:sp>
      <p:sp>
        <p:nvSpPr>
          <p:cNvPr id="17" name="Text 15"/>
          <p:cNvSpPr txBox="1"/>
          <p:nvPr/>
        </p:nvSpPr>
        <p:spPr>
          <a:xfrm>
            <a:off x="6766560" y="1280160"/>
            <a:ext cx="1463040" cy="82296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28</a:t>
            </a:r>
            <a:endParaRPr lang="en-US" sz="5400" dirty="0"/>
          </a:p>
        </p:txBody>
      </p:sp>
      <p:sp>
        <p:nvSpPr>
          <p:cNvPr id="18" name="Text 16"/>
          <p:cNvSpPr txBox="1"/>
          <p:nvPr/>
        </p:nvSpPr>
        <p:spPr>
          <a:xfrm>
            <a:off x="8229600" y="1463040"/>
            <a:ext cx="3383280" cy="548640"/>
          </a:xfrm>
          <a:prstGeom prst="rect">
            <a:avLst/>
          </a:prstGeom>
          <a:noFill/>
          <a:ln/>
        </p:spPr>
        <p:txBody>
          <a:bodyPr wrap="square" lIns="0" tIns="0" rIns="0" bIns="0" rtlCol="0" anchor="ctr"/>
          <a:lstStyle/>
          <a:p>
            <a:pPr indent="0" marL="0">
              <a:buNone/>
            </a:pPr>
            <a:r>
              <a:rPr lang="en-US" sz="1400" dirty="0">
                <a:solidFill>
                  <a:srgbClr val="4B585C"/>
                </a:solidFill>
              </a:rPr>
              <a:t>resources: plan → apply → destroy, all clean</a:t>
            </a:r>
            <a:endParaRPr lang="en-US" sz="1400" dirty="0"/>
          </a:p>
        </p:txBody>
      </p:sp>
      <p:sp>
        <p:nvSpPr>
          <p:cNvPr id="19" name="Text 17"/>
          <p:cNvSpPr txBox="1"/>
          <p:nvPr/>
        </p:nvSpPr>
        <p:spPr>
          <a:xfrm>
            <a:off x="6766560" y="2240280"/>
            <a:ext cx="484632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D2A2E"/>
                </a:solidFill>
              </a:rPr>
              <a:t>Two modules (vpc, eks), variables with validation, tfvars.example; no credentials in Git</a:t>
            </a:r>
            <a:endParaRPr lang="en-US" sz="1400" dirty="0"/>
          </a:p>
          <a:p>
            <a:pPr marL="342900" indent="-342900">
              <a:spcAft>
                <a:spcPts val="600"/>
              </a:spcAft>
              <a:buSzPct val="100000"/>
              <a:buChar char="•"/>
            </a:pPr>
            <a:r>
              <a:rPr lang="en-US" sz="1400" dirty="0">
                <a:solidFill>
                  <a:srgbClr val="1D2A2E"/>
                </a:solidFill>
              </a:rPr>
              <a:t>Full lifecycle verified: init, plan, apply, destroy (28 resources)</a:t>
            </a:r>
            <a:endParaRPr lang="en-US" sz="1400" dirty="0"/>
          </a:p>
          <a:p>
            <a:pPr marL="342900" indent="-342900">
              <a:spcAft>
                <a:spcPts val="600"/>
              </a:spcAft>
              <a:buSzPct val="100000"/>
              <a:buChar char="•"/>
            </a:pPr>
            <a:r>
              <a:rPr lang="en-US" sz="1400" dirty="0">
                <a:solidFill>
                  <a:srgbClr val="1D2A2E"/>
                </a:solidFill>
              </a:rPr>
              <a:t>Remote state ready: S3 backend + DynamoDB lock (commented in versions.tf)</a:t>
            </a:r>
            <a:endParaRPr lang="en-US" sz="1400" dirty="0"/>
          </a:p>
        </p:txBody>
      </p:sp>
      <p:sp>
        <p:nvSpPr>
          <p:cNvPr id="20" name="AWS CLI resources frame"/>
          <p:cNvSpPr/>
          <p:nvPr/>
        </p:nvSpPr>
        <p:spPr>
          <a:xfrm>
            <a:off x="6766560" y="3977640"/>
            <a:ext cx="2084832" cy="1673352"/>
          </a:xfrm>
          <a:prstGeom prst="rect">
            <a:avLst/>
          </a:prstGeom>
          <a:solidFill>
            <a:srgbClr val="FFFFFF"/>
          </a:solidFill>
          <a:ln w="9525">
            <a:solidFill>
              <a:srgbClr val="D5DEDF"/>
            </a:solidFill>
            <a:prstDash val="solid"/>
          </a:ln>
          <a:effectLst>
            <a:outerShdw sx="100000" sy="100000" kx="0" ky="0" algn="bl" rotWithShape="0" blurRad="101600" dist="38100" dir="5400000">
              <a:srgbClr val="1D2A2E">
                <a:alpha val="18000"/>
              </a:srgbClr>
            </a:outerShdw>
          </a:effectLst>
        </p:spPr>
      </p:sp>
      <p:pic>
        <p:nvPicPr>
          <p:cNvPr id="21" name="AWS CLI resources" descr="/Users/navjeetsingh/projects/devsecops-python/demo/screenshots/51-aws-vpc-eks-resources.png">    </p:cNvPr>
          <p:cNvPicPr>
            <a:picLocks noChangeAspect="1"/>
          </p:cNvPicPr>
          <p:nvPr/>
        </p:nvPicPr>
        <p:blipFill>
          <a:blip r:embed="rId1"/>
          <a:stretch>
            <a:fillRect/>
          </a:stretch>
        </p:blipFill>
        <p:spPr>
          <a:xfrm>
            <a:off x="6803136" y="4014216"/>
            <a:ext cx="2011680" cy="160020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F3D47"/>
                </a:solidFill>
                <a:latin typeface="Arial" pitchFamily="34" charset="0"/>
                <a:ea typeface="Arial" pitchFamily="34" charset="-122"/>
                <a:cs typeface="Arial" pitchFamily="34" charset="-120"/>
              </a:rPr>
              <a:t>Kubernetes, Helm and GitOps with Argo CD</a:t>
            </a:r>
            <a:endParaRPr lang="en-US" sz="3000" dirty="0"/>
          </a:p>
        </p:txBody>
      </p:sp>
      <p:sp>
        <p:nvSpPr>
          <p:cNvPr id="3" name="Shape 1"/>
          <p:cNvSpPr/>
          <p:nvPr/>
        </p:nvSpPr>
        <p:spPr>
          <a:xfrm>
            <a:off x="548640" y="1371600"/>
            <a:ext cx="548640" cy="548640"/>
          </a:xfrm>
          <a:prstGeom prst="ellipse">
            <a:avLst/>
          </a:prstGeom>
          <a:solidFill>
            <a:srgbClr val="EEF4F4"/>
          </a:solidFill>
          <a:ln/>
        </p:spPr>
      </p:sp>
      <p:pic>
        <p:nvPicPr>
          <p:cNvPr id="4" name="Image 0" descr="preencoded.png">    </p:cNvPr>
          <p:cNvPicPr>
            <a:picLocks noChangeAspect="1"/>
          </p:cNvPicPr>
          <p:nvPr/>
        </p:nvPicPr>
        <p:blipFill>
          <a:blip r:embed="rId1"/>
          <a:stretch>
            <a:fillRect/>
          </a:stretch>
        </p:blipFill>
        <p:spPr>
          <a:xfrm>
            <a:off x="676656" y="1499616"/>
            <a:ext cx="292608" cy="292608"/>
          </a:xfrm>
          <a:prstGeom prst="rect">
            <a:avLst/>
          </a:prstGeom>
        </p:spPr>
      </p:pic>
      <p:sp>
        <p:nvSpPr>
          <p:cNvPr id="5" name="Text 2"/>
          <p:cNvSpPr txBox="1"/>
          <p:nvPr/>
        </p:nvSpPr>
        <p:spPr>
          <a:xfrm>
            <a:off x="1280160" y="1325880"/>
            <a:ext cx="4389120" cy="868680"/>
          </a:xfrm>
          <a:prstGeom prst="rect">
            <a:avLst/>
          </a:prstGeom>
          <a:noFill/>
          <a:ln/>
        </p:spPr>
        <p:txBody>
          <a:bodyPr wrap="square" lIns="0" tIns="0" rIns="0" bIns="0" rtlCol="0" anchor="t"/>
          <a:lstStyle/>
          <a:p>
            <a:pPr indent="0" marL="0">
              <a:buNone/>
            </a:pPr>
            <a:r>
              <a:rPr lang="en-US" sz="1600" b="1" dirty="0">
                <a:solidFill>
                  <a:srgbClr val="1D2A2E"/>
                </a:solidFill>
              </a:rPr>
              <a:t>Helm chart</a:t>
            </a:r>
            <a:endParaRPr lang="en-US" sz="1600" dirty="0"/>
          </a:p>
          <a:p>
            <a:pPr indent="0" marL="0">
              <a:buNone/>
            </a:pPr>
            <a:r>
              <a:rPr lang="en-US" sz="1400" dirty="0">
                <a:solidFill>
                  <a:srgbClr val="4B585C"/>
                </a:solidFill>
              </a:rPr>
              <a:t>Deployments ×2, ClusterIP Services, Postgres StatefulSet, Secret, Ingress, HPA, ServiceMonitor, dashboard</a:t>
            </a:r>
            <a:endParaRPr lang="en-US" sz="1600" dirty="0"/>
          </a:p>
        </p:txBody>
      </p:sp>
      <p:sp>
        <p:nvSpPr>
          <p:cNvPr id="6" name="Shape 3"/>
          <p:cNvSpPr/>
          <p:nvPr/>
        </p:nvSpPr>
        <p:spPr>
          <a:xfrm>
            <a:off x="548640" y="2514600"/>
            <a:ext cx="548640" cy="548640"/>
          </a:xfrm>
          <a:prstGeom prst="ellipse">
            <a:avLst/>
          </a:prstGeom>
          <a:solidFill>
            <a:srgbClr val="EEF4F4"/>
          </a:solidFill>
          <a:ln/>
        </p:spPr>
      </p:sp>
      <p:pic>
        <p:nvPicPr>
          <p:cNvPr id="7" name="Image 1" descr="preencoded.png">    </p:cNvPr>
          <p:cNvPicPr>
            <a:picLocks noChangeAspect="1"/>
          </p:cNvPicPr>
          <p:nvPr/>
        </p:nvPicPr>
        <p:blipFill>
          <a:blip r:embed="rId2"/>
          <a:stretch>
            <a:fillRect/>
          </a:stretch>
        </p:blipFill>
        <p:spPr>
          <a:xfrm>
            <a:off x="676656" y="2642616"/>
            <a:ext cx="292608" cy="292608"/>
          </a:xfrm>
          <a:prstGeom prst="rect">
            <a:avLst/>
          </a:prstGeom>
        </p:spPr>
      </p:pic>
      <p:sp>
        <p:nvSpPr>
          <p:cNvPr id="8" name="Text 4"/>
          <p:cNvSpPr txBox="1"/>
          <p:nvPr/>
        </p:nvSpPr>
        <p:spPr>
          <a:xfrm>
            <a:off x="1280160" y="2468880"/>
            <a:ext cx="4389120" cy="868680"/>
          </a:xfrm>
          <a:prstGeom prst="rect">
            <a:avLst/>
          </a:prstGeom>
          <a:noFill/>
          <a:ln/>
        </p:spPr>
        <p:txBody>
          <a:bodyPr wrap="square" lIns="0" tIns="0" rIns="0" bIns="0" rtlCol="0" anchor="t"/>
          <a:lstStyle/>
          <a:p>
            <a:pPr indent="0" marL="0">
              <a:buNone/>
            </a:pPr>
            <a:r>
              <a:rPr lang="en-US" sz="1600" b="1" dirty="0">
                <a:solidFill>
                  <a:srgbClr val="1D2A2E"/>
                </a:solidFill>
              </a:rPr>
              <a:t>Hardened pods</a:t>
            </a:r>
            <a:endParaRPr lang="en-US" sz="1600" dirty="0"/>
          </a:p>
          <a:p>
            <a:pPr indent="0" marL="0">
              <a:buNone/>
            </a:pPr>
            <a:r>
              <a:rPr lang="en-US" sz="1400" dirty="0">
                <a:solidFill>
                  <a:srgbClr val="4B585C"/>
                </a:solidFill>
              </a:rPr>
              <a:t>runAsNonRoot, read-only rootfs, caps dropped, Pod Security baseline, quotas</a:t>
            </a:r>
            <a:endParaRPr lang="en-US" sz="1600" dirty="0"/>
          </a:p>
        </p:txBody>
      </p:sp>
      <p:sp>
        <p:nvSpPr>
          <p:cNvPr id="9" name="Shape 5"/>
          <p:cNvSpPr/>
          <p:nvPr/>
        </p:nvSpPr>
        <p:spPr>
          <a:xfrm>
            <a:off x="548640" y="3657600"/>
            <a:ext cx="548640" cy="548640"/>
          </a:xfrm>
          <a:prstGeom prst="ellipse">
            <a:avLst/>
          </a:prstGeom>
          <a:solidFill>
            <a:srgbClr val="EEF4F4"/>
          </a:solidFill>
          <a:ln/>
        </p:spPr>
      </p:sp>
      <p:pic>
        <p:nvPicPr>
          <p:cNvPr id="10" name="Image 2" descr="preencoded.png">    </p:cNvPr>
          <p:cNvPicPr>
            <a:picLocks noChangeAspect="1"/>
          </p:cNvPicPr>
          <p:nvPr/>
        </p:nvPicPr>
        <p:blipFill>
          <a:blip r:embed="rId3"/>
          <a:stretch>
            <a:fillRect/>
          </a:stretch>
        </p:blipFill>
        <p:spPr>
          <a:xfrm>
            <a:off x="676656" y="3785616"/>
            <a:ext cx="292608" cy="292608"/>
          </a:xfrm>
          <a:prstGeom prst="rect">
            <a:avLst/>
          </a:prstGeom>
        </p:spPr>
      </p:pic>
      <p:sp>
        <p:nvSpPr>
          <p:cNvPr id="11" name="Text 6"/>
          <p:cNvSpPr txBox="1"/>
          <p:nvPr/>
        </p:nvSpPr>
        <p:spPr>
          <a:xfrm>
            <a:off x="1280160" y="3611880"/>
            <a:ext cx="4389120" cy="868680"/>
          </a:xfrm>
          <a:prstGeom prst="rect">
            <a:avLst/>
          </a:prstGeom>
          <a:noFill/>
          <a:ln/>
        </p:spPr>
        <p:txBody>
          <a:bodyPr wrap="square" lIns="0" tIns="0" rIns="0" bIns="0" rtlCol="0" anchor="t"/>
          <a:lstStyle/>
          <a:p>
            <a:pPr indent="0" marL="0">
              <a:buNone/>
            </a:pPr>
            <a:r>
              <a:rPr lang="en-US" sz="1600" b="1" dirty="0">
                <a:solidFill>
                  <a:srgbClr val="1D2A2E"/>
                </a:solidFill>
              </a:rPr>
              <a:t>Argo CD</a:t>
            </a:r>
            <a:endParaRPr lang="en-US" sz="1600" dirty="0"/>
          </a:p>
          <a:p>
            <a:pPr indent="0" marL="0">
              <a:buNone/>
            </a:pPr>
            <a:r>
              <a:rPr lang="en-US" sz="1400" dirty="0">
                <a:solidFill>
                  <a:srgbClr val="4B585C"/>
                </a:solidFill>
              </a:rPr>
              <a:t>Auto-sync from main, prune, self-heal: a manual scale-down was reverted in seconds</a:t>
            </a:r>
            <a:endParaRPr lang="en-US" sz="1600" dirty="0"/>
          </a:p>
        </p:txBody>
      </p:sp>
      <p:sp>
        <p:nvSpPr>
          <p:cNvPr id="12" name="Shape 7"/>
          <p:cNvSpPr/>
          <p:nvPr/>
        </p:nvSpPr>
        <p:spPr>
          <a:xfrm>
            <a:off x="548640" y="4800600"/>
            <a:ext cx="548640" cy="548640"/>
          </a:xfrm>
          <a:prstGeom prst="ellipse">
            <a:avLst/>
          </a:prstGeom>
          <a:solidFill>
            <a:srgbClr val="EEF4F4"/>
          </a:solidFill>
          <a:ln/>
        </p:spPr>
      </p:sp>
      <p:pic>
        <p:nvPicPr>
          <p:cNvPr id="13" name="Image 3" descr="preencoded.png">    </p:cNvPr>
          <p:cNvPicPr>
            <a:picLocks noChangeAspect="1"/>
          </p:cNvPicPr>
          <p:nvPr/>
        </p:nvPicPr>
        <p:blipFill>
          <a:blip r:embed="rId4"/>
          <a:stretch>
            <a:fillRect/>
          </a:stretch>
        </p:blipFill>
        <p:spPr>
          <a:xfrm>
            <a:off x="676656" y="4928616"/>
            <a:ext cx="292608" cy="292608"/>
          </a:xfrm>
          <a:prstGeom prst="rect">
            <a:avLst/>
          </a:prstGeom>
        </p:spPr>
      </p:pic>
      <p:sp>
        <p:nvSpPr>
          <p:cNvPr id="14" name="Text 8"/>
          <p:cNvSpPr txBox="1"/>
          <p:nvPr/>
        </p:nvSpPr>
        <p:spPr>
          <a:xfrm>
            <a:off x="1280160" y="4754880"/>
            <a:ext cx="4389120" cy="868680"/>
          </a:xfrm>
          <a:prstGeom prst="rect">
            <a:avLst/>
          </a:prstGeom>
          <a:noFill/>
          <a:ln/>
        </p:spPr>
        <p:txBody>
          <a:bodyPr wrap="square" lIns="0" tIns="0" rIns="0" bIns="0" rtlCol="0" anchor="t"/>
          <a:lstStyle/>
          <a:p>
            <a:pPr indent="0" marL="0">
              <a:buNone/>
            </a:pPr>
            <a:r>
              <a:rPr lang="en-US" sz="1600" b="1" dirty="0">
                <a:solidFill>
                  <a:srgbClr val="1D2A2E"/>
                </a:solidFill>
              </a:rPr>
              <a:t>Ingress</a:t>
            </a:r>
            <a:endParaRPr lang="en-US" sz="1600" dirty="0"/>
          </a:p>
          <a:p>
            <a:pPr indent="0" marL="0">
              <a:buNone/>
            </a:pPr>
            <a:r>
              <a:rPr lang="en-US" sz="1400" dirty="0">
                <a:solidFill>
                  <a:srgbClr val="4B585C"/>
                </a:solidFill>
              </a:rPr>
              <a:t>careslot.local: / → frontend, /api → FastAPI (ingress-nginx on minikube)</a:t>
            </a:r>
            <a:endParaRPr lang="en-US" sz="1600" dirty="0"/>
          </a:p>
        </p:txBody>
      </p:sp>
      <p:sp>
        <p:nvSpPr>
          <p:cNvPr id="15" name="Argo CD tree frame"/>
          <p:cNvSpPr/>
          <p:nvPr/>
        </p:nvSpPr>
        <p:spPr>
          <a:xfrm>
            <a:off x="6035040" y="1325880"/>
            <a:ext cx="5577840" cy="3483864"/>
          </a:xfrm>
          <a:prstGeom prst="rect">
            <a:avLst/>
          </a:prstGeom>
          <a:solidFill>
            <a:srgbClr val="FFFFFF"/>
          </a:solidFill>
          <a:ln w="9525">
            <a:solidFill>
              <a:srgbClr val="D5DEDF"/>
            </a:solidFill>
            <a:prstDash val="solid"/>
          </a:ln>
          <a:effectLst>
            <a:outerShdw sx="100000" sy="100000" kx="0" ky="0" algn="bl" rotWithShape="0" blurRad="101600" dist="38100" dir="5400000">
              <a:srgbClr val="1D2A2E">
                <a:alpha val="18000"/>
              </a:srgbClr>
            </a:outerShdw>
          </a:effectLst>
        </p:spPr>
      </p:sp>
      <p:pic>
        <p:nvPicPr>
          <p:cNvPr id="16" name="Argo CD tree" descr="/Users/navjeetsingh/projects/devsecops-python/demo/screenshots/31-argocd-careslot-tree.png">    </p:cNvPr>
          <p:cNvPicPr>
            <a:picLocks noChangeAspect="1"/>
          </p:cNvPicPr>
          <p:nvPr/>
        </p:nvPicPr>
        <p:blipFill>
          <a:blip r:embed="rId5"/>
          <a:stretch>
            <a:fillRect/>
          </a:stretch>
        </p:blipFill>
        <p:spPr>
          <a:xfrm>
            <a:off x="6071616" y="1362456"/>
            <a:ext cx="5504688" cy="3410712"/>
          </a:xfrm>
          <a:prstGeom prst="rect">
            <a:avLst/>
          </a:prstGeom>
        </p:spPr>
      </p:pic>
      <p:sp>
        <p:nvSpPr>
          <p:cNvPr id="17" name="kubectl get pods frame"/>
          <p:cNvSpPr/>
          <p:nvPr/>
        </p:nvSpPr>
        <p:spPr>
          <a:xfrm>
            <a:off x="6035040" y="4983480"/>
            <a:ext cx="4726795" cy="987552"/>
          </a:xfrm>
          <a:prstGeom prst="rect">
            <a:avLst/>
          </a:prstGeom>
          <a:solidFill>
            <a:srgbClr val="FFFFFF"/>
          </a:solidFill>
          <a:ln w="9525">
            <a:solidFill>
              <a:srgbClr val="D5DEDF"/>
            </a:solidFill>
            <a:prstDash val="solid"/>
          </a:ln>
          <a:effectLst>
            <a:outerShdw sx="100000" sy="100000" kx="0" ky="0" algn="bl" rotWithShape="0" blurRad="101600" dist="38100" dir="5400000">
              <a:srgbClr val="1D2A2E">
                <a:alpha val="18000"/>
              </a:srgbClr>
            </a:outerShdw>
          </a:effectLst>
        </p:spPr>
      </p:sp>
      <p:pic>
        <p:nvPicPr>
          <p:cNvPr id="18" name="kubectl get pods" descr="/Users/navjeetsingh/projects/devsecops-python/demo/screenshots/60-kubectl-get-pods.png">    </p:cNvPr>
          <p:cNvPicPr>
            <a:picLocks noChangeAspect="1"/>
          </p:cNvPicPr>
          <p:nvPr/>
        </p:nvPicPr>
        <p:blipFill>
          <a:blip r:embed="rId6"/>
          <a:stretch>
            <a:fillRect/>
          </a:stretch>
        </p:blipFill>
        <p:spPr>
          <a:xfrm>
            <a:off x="6071616" y="5020056"/>
            <a:ext cx="4653643" cy="91440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F3D47"/>
                </a:solidFill>
                <a:latin typeface="Arial" pitchFamily="34" charset="0"/>
                <a:ea typeface="Arial" pitchFamily="34" charset="-122"/>
                <a:cs typeface="Arial" pitchFamily="34" charset="-120"/>
              </a:rPr>
              <a:t>Autoscaling under load: 2 → 6 backend pods</a:t>
            </a:r>
            <a:endParaRPr lang="en-US" sz="3000" dirty="0"/>
          </a:p>
        </p:txBody>
      </p:sp>
      <p:graphicFrame>
        <p:nvGraphicFramePr>
          <p:cNvPr id="3" name="Chart 0" descr=""/>
          <p:cNvGraphicFramePr/>
          <p:nvPr/>
        </p:nvGraphicFramePr>
        <p:xfrm>
          <a:off x="548640" y="1325880"/>
          <a:ext cx="5486400" cy="36576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029200"/>
            <a:ext cx="5486400" cy="731520"/>
          </a:xfrm>
          <a:prstGeom prst="rect">
            <a:avLst/>
          </a:prstGeom>
          <a:noFill/>
          <a:ln/>
        </p:spPr>
        <p:txBody>
          <a:bodyPr wrap="square" lIns="0" tIns="0" rIns="0" bIns="0" rtlCol="0" anchor="t"/>
          <a:lstStyle/>
          <a:p>
            <a:pPr indent="0" marL="0">
              <a:buNone/>
            </a:pPr>
            <a:r>
              <a:rPr lang="en-US" sz="1200" dirty="0">
                <a:solidFill>
                  <a:srgbClr val="4B585C"/>
                </a:solidFill>
              </a:rPr>
              <a:t>Load test 15:14–15:18 at ~200 req/s (60 workers). CPU peaked at 462% of request vs a 60% target; HPA hit its max of 6, then scaled back to 2 after the 2-minute stabilisation window.</a:t>
            </a:r>
            <a:endParaRPr lang="en-US" sz="1200" dirty="0"/>
          </a:p>
        </p:txBody>
      </p:sp>
      <p:sp>
        <p:nvSpPr>
          <p:cNvPr id="5" name="HPA scaling terminal frame"/>
          <p:cNvSpPr/>
          <p:nvPr/>
        </p:nvSpPr>
        <p:spPr>
          <a:xfrm>
            <a:off x="6217920" y="1325880"/>
            <a:ext cx="5468112" cy="3217953"/>
          </a:xfrm>
          <a:prstGeom prst="rect">
            <a:avLst/>
          </a:prstGeom>
          <a:solidFill>
            <a:srgbClr val="FFFFFF"/>
          </a:solidFill>
          <a:ln w="9525">
            <a:solidFill>
              <a:srgbClr val="D5DEDF"/>
            </a:solidFill>
            <a:prstDash val="solid"/>
          </a:ln>
          <a:effectLst>
            <a:outerShdw sx="100000" sy="100000" kx="0" ky="0" algn="bl" rotWithShape="0" blurRad="101600" dist="38100" dir="5400000">
              <a:srgbClr val="1D2A2E">
                <a:alpha val="18000"/>
              </a:srgbClr>
            </a:outerShdw>
          </a:effectLst>
        </p:spPr>
      </p:sp>
      <p:pic>
        <p:nvPicPr>
          <p:cNvPr id="6" name="HPA scaling terminal" descr="/Users/navjeetsingh/projects/devsecops-python/demo/screenshots/64-hpa-scaling.png">    </p:cNvPr>
          <p:cNvPicPr>
            <a:picLocks noChangeAspect="1"/>
          </p:cNvPicPr>
          <p:nvPr/>
        </p:nvPicPr>
        <p:blipFill>
          <a:blip r:embed="rId2"/>
          <a:stretch>
            <a:fillRect/>
          </a:stretch>
        </p:blipFill>
        <p:spPr>
          <a:xfrm>
            <a:off x="6254496" y="1362456"/>
            <a:ext cx="5394960" cy="3144801"/>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F3D47"/>
                </a:solidFill>
                <a:latin typeface="Arial" pitchFamily="34" charset="0"/>
                <a:ea typeface="Arial" pitchFamily="34" charset="-122"/>
                <a:cs typeface="Arial" pitchFamily="34" charset="-120"/>
              </a:rPr>
              <a:t>Observability: Prometheus scrapes, Grafana explains</a:t>
            </a:r>
            <a:endParaRPr lang="en-US" sz="3000" dirty="0"/>
          </a:p>
        </p:txBody>
      </p:sp>
      <p:sp>
        <p:nvSpPr>
          <p:cNvPr id="3" name="Grafana dashboard frame"/>
          <p:cNvSpPr/>
          <p:nvPr/>
        </p:nvSpPr>
        <p:spPr>
          <a:xfrm>
            <a:off x="548640" y="1325880"/>
            <a:ext cx="6473952" cy="4553712"/>
          </a:xfrm>
          <a:prstGeom prst="rect">
            <a:avLst/>
          </a:prstGeom>
          <a:solidFill>
            <a:srgbClr val="FFFFFF"/>
          </a:solidFill>
          <a:ln w="9525">
            <a:solidFill>
              <a:srgbClr val="D5DEDF"/>
            </a:solidFill>
            <a:prstDash val="solid"/>
          </a:ln>
          <a:effectLst>
            <a:outerShdw sx="100000" sy="100000" kx="0" ky="0" algn="bl" rotWithShape="0" blurRad="101600" dist="38100" dir="5400000">
              <a:srgbClr val="1D2A2E">
                <a:alpha val="18000"/>
              </a:srgbClr>
            </a:outerShdw>
          </a:effectLst>
        </p:spPr>
      </p:sp>
      <p:pic>
        <p:nvPicPr>
          <p:cNvPr id="4" name="Grafana dashboard" descr="/Users/navjeetsingh/projects/devsecops-python/demo/screenshots/22-grafana-dashboard.png">    </p:cNvPr>
          <p:cNvPicPr>
            <a:picLocks noChangeAspect="1"/>
          </p:cNvPicPr>
          <p:nvPr/>
        </p:nvPicPr>
        <p:blipFill>
          <a:blip r:embed="rId1"/>
          <a:stretch>
            <a:fillRect/>
          </a:stretch>
        </p:blipFill>
        <p:spPr>
          <a:xfrm>
            <a:off x="585216" y="1362456"/>
            <a:ext cx="6400800" cy="4480560"/>
          </a:xfrm>
          <a:prstGeom prst="rect">
            <a:avLst/>
          </a:prstGeom>
        </p:spPr>
      </p:pic>
      <p:sp>
        <p:nvSpPr>
          <p:cNvPr id="5" name="Prometheus targets frame"/>
          <p:cNvSpPr/>
          <p:nvPr/>
        </p:nvSpPr>
        <p:spPr>
          <a:xfrm>
            <a:off x="7315200" y="1325880"/>
            <a:ext cx="4297680" cy="2686050"/>
          </a:xfrm>
          <a:prstGeom prst="rect">
            <a:avLst/>
          </a:prstGeom>
          <a:solidFill>
            <a:srgbClr val="FFFFFF"/>
          </a:solidFill>
          <a:ln w="9525">
            <a:solidFill>
              <a:srgbClr val="D5DEDF"/>
            </a:solidFill>
            <a:prstDash val="solid"/>
          </a:ln>
          <a:effectLst>
            <a:outerShdw sx="100000" sy="100000" kx="0" ky="0" algn="bl" rotWithShape="0" blurRad="101600" dist="38100" dir="5400000">
              <a:srgbClr val="1D2A2E">
                <a:alpha val="18000"/>
              </a:srgbClr>
            </a:outerShdw>
          </a:effectLst>
        </p:spPr>
      </p:sp>
      <p:pic>
        <p:nvPicPr>
          <p:cNvPr id="6" name="Prometheus targets" descr="/Users/navjeetsingh/projects/devsecops-python/demo/screenshots/20-prometheus-targets-up.png">    </p:cNvPr>
          <p:cNvPicPr>
            <a:picLocks noChangeAspect="1"/>
          </p:cNvPicPr>
          <p:nvPr/>
        </p:nvPicPr>
        <p:blipFill>
          <a:blip r:embed="rId2"/>
          <a:stretch>
            <a:fillRect/>
          </a:stretch>
        </p:blipFill>
        <p:spPr>
          <a:xfrm>
            <a:off x="7351776" y="1362456"/>
            <a:ext cx="4224528" cy="2612898"/>
          </a:xfrm>
          <a:prstGeom prst="rect">
            <a:avLst/>
          </a:prstGeom>
        </p:spPr>
      </p:pic>
      <p:sp>
        <p:nvSpPr>
          <p:cNvPr id="7" name="Text 3"/>
          <p:cNvSpPr txBox="1"/>
          <p:nvPr/>
        </p:nvSpPr>
        <p:spPr>
          <a:xfrm>
            <a:off x="7315200" y="4286250"/>
            <a:ext cx="429768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D2A2E"/>
                </a:solidFill>
              </a:rPr>
              <a:t>ServiceMonitor → 6/6 backend targets UP</a:t>
            </a:r>
            <a:endParaRPr lang="en-US" sz="1300" dirty="0"/>
          </a:p>
          <a:p>
            <a:pPr marL="342900" indent="-342900">
              <a:spcAft>
                <a:spcPts val="600"/>
              </a:spcAft>
              <a:buSzPct val="100000"/>
              <a:buChar char="•"/>
            </a:pPr>
            <a:r>
              <a:rPr lang="en-US" sz="1300" dirty="0">
                <a:solidFill>
                  <a:srgbClr val="1D2A2E"/>
                </a:solidFill>
              </a:rPr>
              <a:t>HTTP rate, p50/p95/p99 latency, 5xx ratio, CPU per pod</a:t>
            </a:r>
            <a:endParaRPr lang="en-US" sz="1300" dirty="0"/>
          </a:p>
          <a:p>
            <a:pPr marL="342900" indent="-342900">
              <a:spcAft>
                <a:spcPts val="600"/>
              </a:spcAft>
              <a:buSzPct val="100000"/>
              <a:buChar char="•"/>
            </a:pPr>
            <a:r>
              <a:rPr lang="en-US" sz="1300" dirty="0">
                <a:solidFill>
                  <a:srgbClr val="1D2A2E"/>
                </a:solidFill>
              </a:rPr>
              <a:t>Business metrics: bookings by specialty, status changes, rejected double-bookings</a:t>
            </a:r>
            <a:endParaRPr lang="en-US" sz="1300" dirty="0"/>
          </a:p>
          <a:p>
            <a:pPr marL="342900" indent="-342900">
              <a:spcAft>
                <a:spcPts val="600"/>
              </a:spcAft>
              <a:buSzPct val="100000"/>
              <a:buChar char="•"/>
            </a:pPr>
            <a:r>
              <a:rPr lang="en-US" sz="1300" dirty="0">
                <a:solidFill>
                  <a:srgbClr val="1D2A2E"/>
                </a:solidFill>
              </a:rPr>
              <a:t>Dashboard ships in the Helm chart (ConfigMap + Grafana sidecar)</a:t>
            </a:r>
            <a:endParaRPr lang="en-US" sz="13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3000" b="1" dirty="0">
                <a:solidFill>
                  <a:srgbClr val="0F3D47"/>
                </a:solidFill>
                <a:latin typeface="Arial" pitchFamily="34" charset="0"/>
                <a:ea typeface="Arial" pitchFamily="34" charset="-122"/>
                <a:cs typeface="Arial" pitchFamily="34" charset="-120"/>
              </a:rPr>
              <a:t>Key learnings</a:t>
            </a:r>
            <a:endParaRPr lang="en-US" sz="3000" dirty="0"/>
          </a:p>
        </p:txBody>
      </p:sp>
      <p:sp>
        <p:nvSpPr>
          <p:cNvPr id="3" name="Shape 1"/>
          <p:cNvSpPr/>
          <p:nvPr/>
        </p:nvSpPr>
        <p:spPr>
          <a:xfrm>
            <a:off x="548640" y="1371600"/>
            <a:ext cx="5394960" cy="1965960"/>
          </a:xfrm>
          <a:prstGeom prst="roundRect">
            <a:avLst>
              <a:gd name="adj" fmla="val 3721"/>
            </a:avLst>
          </a:prstGeom>
          <a:solidFill>
            <a:srgbClr val="EEF4F4"/>
          </a:solidFill>
          <a:ln/>
        </p:spPr>
      </p:sp>
      <p:pic>
        <p:nvPicPr>
          <p:cNvPr id="4" name="Image 0" descr="preencoded.png">    </p:cNvPr>
          <p:cNvPicPr>
            <a:picLocks noChangeAspect="1"/>
          </p:cNvPicPr>
          <p:nvPr/>
        </p:nvPicPr>
        <p:blipFill>
          <a:blip r:embed="rId1"/>
          <a:stretch>
            <a:fillRect/>
          </a:stretch>
        </p:blipFill>
        <p:spPr>
          <a:xfrm>
            <a:off x="822960" y="1645920"/>
            <a:ext cx="411480" cy="411480"/>
          </a:xfrm>
          <a:prstGeom prst="rect">
            <a:avLst/>
          </a:prstGeom>
        </p:spPr>
      </p:pic>
      <p:sp>
        <p:nvSpPr>
          <p:cNvPr id="5" name="Text 2"/>
          <p:cNvSpPr txBox="1"/>
          <p:nvPr/>
        </p:nvSpPr>
        <p:spPr>
          <a:xfrm>
            <a:off x="1417320" y="1600200"/>
            <a:ext cx="4297680" cy="502920"/>
          </a:xfrm>
          <a:prstGeom prst="rect">
            <a:avLst/>
          </a:prstGeom>
          <a:noFill/>
          <a:ln/>
        </p:spPr>
        <p:txBody>
          <a:bodyPr wrap="square" lIns="0" tIns="0" rIns="0" bIns="0" rtlCol="0" anchor="ctr"/>
          <a:lstStyle/>
          <a:p>
            <a:pPr indent="0" marL="0">
              <a:buNone/>
            </a:pPr>
            <a:r>
              <a:rPr lang="en-US" sz="1700" b="1" dirty="0">
                <a:solidFill>
                  <a:srgbClr val="1D2A2E"/>
                </a:solidFill>
              </a:rPr>
              <a:t>Scanners find real problems</a:t>
            </a:r>
            <a:endParaRPr lang="en-US" sz="1700" dirty="0"/>
          </a:p>
        </p:txBody>
      </p:sp>
      <p:sp>
        <p:nvSpPr>
          <p:cNvPr id="6" name="Text 3"/>
          <p:cNvSpPr txBox="1"/>
          <p:nvPr/>
        </p:nvSpPr>
        <p:spPr>
          <a:xfrm>
            <a:off x="822960" y="2240280"/>
            <a:ext cx="4846320" cy="960120"/>
          </a:xfrm>
          <a:prstGeom prst="rect">
            <a:avLst/>
          </a:prstGeom>
          <a:noFill/>
          <a:ln/>
        </p:spPr>
        <p:txBody>
          <a:bodyPr wrap="square" lIns="0" tIns="0" rIns="0" bIns="0" rtlCol="0" anchor="t"/>
          <a:lstStyle/>
          <a:p>
            <a:pPr indent="0" marL="0">
              <a:buNone/>
            </a:pPr>
            <a:r>
              <a:rPr lang="en-US" sz="1400" dirty="0">
                <a:solidFill>
                  <a:srgbClr val="4B585C"/>
                </a:solidFill>
              </a:rPr>
              <a:t>Trivy failed the very first image on a DoS CVE. The fix was a dependency bump plus a smaller runtime image.</a:t>
            </a:r>
            <a:endParaRPr lang="en-US" sz="1400" dirty="0"/>
          </a:p>
        </p:txBody>
      </p:sp>
      <p:sp>
        <p:nvSpPr>
          <p:cNvPr id="7" name="Shape 4"/>
          <p:cNvSpPr/>
          <p:nvPr/>
        </p:nvSpPr>
        <p:spPr>
          <a:xfrm>
            <a:off x="6217920" y="1371600"/>
            <a:ext cx="5394960" cy="1965960"/>
          </a:xfrm>
          <a:prstGeom prst="roundRect">
            <a:avLst>
              <a:gd name="adj" fmla="val 3721"/>
            </a:avLst>
          </a:prstGeom>
          <a:solidFill>
            <a:srgbClr val="EEF4F4"/>
          </a:solidFill>
          <a:ln/>
        </p:spPr>
      </p:sp>
      <p:pic>
        <p:nvPicPr>
          <p:cNvPr id="8" name="Image 1" descr="preencoded.png">    </p:cNvPr>
          <p:cNvPicPr>
            <a:picLocks noChangeAspect="1"/>
          </p:cNvPicPr>
          <p:nvPr/>
        </p:nvPicPr>
        <p:blipFill>
          <a:blip r:embed="rId2"/>
          <a:stretch>
            <a:fillRect/>
          </a:stretch>
        </p:blipFill>
        <p:spPr>
          <a:xfrm>
            <a:off x="6492240" y="1645920"/>
            <a:ext cx="411480" cy="411480"/>
          </a:xfrm>
          <a:prstGeom prst="rect">
            <a:avLst/>
          </a:prstGeom>
        </p:spPr>
      </p:pic>
      <p:sp>
        <p:nvSpPr>
          <p:cNvPr id="9" name="Text 5"/>
          <p:cNvSpPr txBox="1"/>
          <p:nvPr/>
        </p:nvSpPr>
        <p:spPr>
          <a:xfrm>
            <a:off x="7086600" y="1600200"/>
            <a:ext cx="4297680" cy="502920"/>
          </a:xfrm>
          <a:prstGeom prst="rect">
            <a:avLst/>
          </a:prstGeom>
          <a:noFill/>
          <a:ln/>
        </p:spPr>
        <p:txBody>
          <a:bodyPr wrap="square" lIns="0" tIns="0" rIns="0" bIns="0" rtlCol="0" anchor="ctr"/>
          <a:lstStyle/>
          <a:p>
            <a:pPr indent="0" marL="0">
              <a:buNone/>
            </a:pPr>
            <a:r>
              <a:rPr lang="en-US" sz="1700" b="1" dirty="0">
                <a:solidFill>
                  <a:srgbClr val="1D2A2E"/>
                </a:solidFill>
              </a:rPr>
              <a:t>Starting order is a deployment concern</a:t>
            </a:r>
            <a:endParaRPr lang="en-US" sz="1700" dirty="0"/>
          </a:p>
        </p:txBody>
      </p:sp>
      <p:sp>
        <p:nvSpPr>
          <p:cNvPr id="10" name="Text 6"/>
          <p:cNvSpPr txBox="1"/>
          <p:nvPr/>
        </p:nvSpPr>
        <p:spPr>
          <a:xfrm>
            <a:off x="6492240" y="2240280"/>
            <a:ext cx="4846320" cy="960120"/>
          </a:xfrm>
          <a:prstGeom prst="rect">
            <a:avLst/>
          </a:prstGeom>
          <a:noFill/>
          <a:ln/>
        </p:spPr>
        <p:txBody>
          <a:bodyPr wrap="square" lIns="0" tIns="0" rIns="0" bIns="0" rtlCol="0" anchor="t"/>
          <a:lstStyle/>
          <a:p>
            <a:pPr indent="0" marL="0">
              <a:buNone/>
            </a:pPr>
            <a:r>
              <a:rPr lang="en-US" sz="1400" dirty="0">
                <a:solidFill>
                  <a:srgbClr val="4B585C"/>
                </a:solidFill>
              </a:rPr>
              <a:t>Two replicas racing Alembic crash-looped. An advisory lock and a wait-for-db init container fixed it.</a:t>
            </a:r>
            <a:endParaRPr lang="en-US" sz="1400" dirty="0"/>
          </a:p>
        </p:txBody>
      </p:sp>
      <p:sp>
        <p:nvSpPr>
          <p:cNvPr id="11" name="Shape 7"/>
          <p:cNvSpPr/>
          <p:nvPr/>
        </p:nvSpPr>
        <p:spPr>
          <a:xfrm>
            <a:off x="548640" y="3611880"/>
            <a:ext cx="5394960" cy="1965960"/>
          </a:xfrm>
          <a:prstGeom prst="roundRect">
            <a:avLst>
              <a:gd name="adj" fmla="val 3721"/>
            </a:avLst>
          </a:prstGeom>
          <a:solidFill>
            <a:srgbClr val="EEF4F4"/>
          </a:solidFill>
          <a:ln/>
        </p:spPr>
      </p:sp>
      <p:pic>
        <p:nvPicPr>
          <p:cNvPr id="12" name="Image 2" descr="preencoded.png">    </p:cNvPr>
          <p:cNvPicPr>
            <a:picLocks noChangeAspect="1"/>
          </p:cNvPicPr>
          <p:nvPr/>
        </p:nvPicPr>
        <p:blipFill>
          <a:blip r:embed="rId3"/>
          <a:stretch>
            <a:fillRect/>
          </a:stretch>
        </p:blipFill>
        <p:spPr>
          <a:xfrm>
            <a:off x="822960" y="3886200"/>
            <a:ext cx="411480" cy="411480"/>
          </a:xfrm>
          <a:prstGeom prst="rect">
            <a:avLst/>
          </a:prstGeom>
        </p:spPr>
      </p:pic>
      <p:sp>
        <p:nvSpPr>
          <p:cNvPr id="13" name="Text 8"/>
          <p:cNvSpPr txBox="1"/>
          <p:nvPr/>
        </p:nvSpPr>
        <p:spPr>
          <a:xfrm>
            <a:off x="1417320" y="3840480"/>
            <a:ext cx="4297680" cy="502920"/>
          </a:xfrm>
          <a:prstGeom prst="rect">
            <a:avLst/>
          </a:prstGeom>
          <a:noFill/>
          <a:ln/>
        </p:spPr>
        <p:txBody>
          <a:bodyPr wrap="square" lIns="0" tIns="0" rIns="0" bIns="0" rtlCol="0" anchor="ctr"/>
          <a:lstStyle/>
          <a:p>
            <a:pPr indent="0" marL="0">
              <a:buNone/>
            </a:pPr>
            <a:r>
              <a:rPr lang="en-US" sz="1700" b="1" dirty="0">
                <a:solidFill>
                  <a:srgbClr val="1D2A2E"/>
                </a:solidFill>
              </a:rPr>
              <a:t>GitOps makes the cluster boring</a:t>
            </a:r>
            <a:endParaRPr lang="en-US" sz="1700" dirty="0"/>
          </a:p>
        </p:txBody>
      </p:sp>
      <p:sp>
        <p:nvSpPr>
          <p:cNvPr id="14" name="Text 9"/>
          <p:cNvSpPr txBox="1"/>
          <p:nvPr/>
        </p:nvSpPr>
        <p:spPr>
          <a:xfrm>
            <a:off x="822960" y="4480560"/>
            <a:ext cx="4846320" cy="960120"/>
          </a:xfrm>
          <a:prstGeom prst="rect">
            <a:avLst/>
          </a:prstGeom>
          <a:noFill/>
          <a:ln/>
        </p:spPr>
        <p:txBody>
          <a:bodyPr wrap="square" lIns="0" tIns="0" rIns="0" bIns="0" rtlCol="0" anchor="t"/>
          <a:lstStyle/>
          <a:p>
            <a:pPr indent="0" marL="0">
              <a:buNone/>
            </a:pPr>
            <a:r>
              <a:rPr lang="en-US" sz="1400" dirty="0">
                <a:solidFill>
                  <a:srgbClr val="4B585C"/>
                </a:solidFill>
              </a:rPr>
              <a:t>CI writes the SHA to Git; Argo CD does the rest, and kubectl drift is reverted automatically.</a:t>
            </a:r>
            <a:endParaRPr lang="en-US" sz="1400" dirty="0"/>
          </a:p>
        </p:txBody>
      </p:sp>
      <p:sp>
        <p:nvSpPr>
          <p:cNvPr id="15" name="Shape 10"/>
          <p:cNvSpPr/>
          <p:nvPr/>
        </p:nvSpPr>
        <p:spPr>
          <a:xfrm>
            <a:off x="6217920" y="3611880"/>
            <a:ext cx="5394960" cy="1965960"/>
          </a:xfrm>
          <a:prstGeom prst="roundRect">
            <a:avLst>
              <a:gd name="adj" fmla="val 3721"/>
            </a:avLst>
          </a:prstGeom>
          <a:solidFill>
            <a:srgbClr val="EEF4F4"/>
          </a:solidFill>
          <a:ln/>
        </p:spPr>
      </p:sp>
      <p:pic>
        <p:nvPicPr>
          <p:cNvPr id="16" name="Image 3" descr="preencoded.png">    </p:cNvPr>
          <p:cNvPicPr>
            <a:picLocks noChangeAspect="1"/>
          </p:cNvPicPr>
          <p:nvPr/>
        </p:nvPicPr>
        <p:blipFill>
          <a:blip r:embed="rId4"/>
          <a:stretch>
            <a:fillRect/>
          </a:stretch>
        </p:blipFill>
        <p:spPr>
          <a:xfrm>
            <a:off x="6492240" y="3886200"/>
            <a:ext cx="411480" cy="411480"/>
          </a:xfrm>
          <a:prstGeom prst="rect">
            <a:avLst/>
          </a:prstGeom>
        </p:spPr>
      </p:pic>
      <p:sp>
        <p:nvSpPr>
          <p:cNvPr id="17" name="Text 11"/>
          <p:cNvSpPr txBox="1"/>
          <p:nvPr/>
        </p:nvSpPr>
        <p:spPr>
          <a:xfrm>
            <a:off x="7086600" y="3840480"/>
            <a:ext cx="4297680" cy="502920"/>
          </a:xfrm>
          <a:prstGeom prst="rect">
            <a:avLst/>
          </a:prstGeom>
          <a:noFill/>
          <a:ln/>
        </p:spPr>
        <p:txBody>
          <a:bodyPr wrap="square" lIns="0" tIns="0" rIns="0" bIns="0" rtlCol="0" anchor="ctr"/>
          <a:lstStyle/>
          <a:p>
            <a:pPr indent="0" marL="0">
              <a:buNone/>
            </a:pPr>
            <a:r>
              <a:rPr lang="en-US" sz="1700" b="1" dirty="0">
                <a:solidFill>
                  <a:srgbClr val="1D2A2E"/>
                </a:solidFill>
              </a:rPr>
              <a:t>Starter code had real bugs</a:t>
            </a:r>
            <a:endParaRPr lang="en-US" sz="1700" dirty="0"/>
          </a:p>
        </p:txBody>
      </p:sp>
      <p:sp>
        <p:nvSpPr>
          <p:cNvPr id="18" name="Text 12"/>
          <p:cNvSpPr txBox="1"/>
          <p:nvPr/>
        </p:nvSpPr>
        <p:spPr>
          <a:xfrm>
            <a:off x="6492240" y="4480560"/>
            <a:ext cx="4846320" cy="960120"/>
          </a:xfrm>
          <a:prstGeom prst="rect">
            <a:avLst/>
          </a:prstGeom>
          <a:noFill/>
          <a:ln/>
        </p:spPr>
        <p:txBody>
          <a:bodyPr wrap="square" lIns="0" tIns="0" rIns="0" bIns="0" rtlCol="0" anchor="t"/>
          <a:lstStyle/>
          <a:p>
            <a:pPr indent="0" marL="0">
              <a:buNone/>
            </a:pPr>
            <a:r>
              <a:rPr lang="en-US" sz="1400" dirty="0">
                <a:solidFill>
                  <a:srgbClr val="4B585C"/>
                </a:solidFill>
              </a:rPr>
              <a:t>Ingress pointed at the wrong port, service names didn't match, the HCL didn't parse. Troubleshooting is the job.</a:t>
            </a:r>
            <a:endParaRPr lang="en-US" sz="14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6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1463040"/>
            <a:ext cx="10058400" cy="91440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Thank you</a:t>
            </a:r>
            <a:endParaRPr lang="en-US" sz="4800" dirty="0"/>
          </a:p>
        </p:txBody>
      </p:sp>
      <p:sp>
        <p:nvSpPr>
          <p:cNvPr id="3" name="Text 1"/>
          <p:cNvSpPr txBox="1"/>
          <p:nvPr/>
        </p:nvSpPr>
        <p:spPr>
          <a:xfrm>
            <a:off x="731520" y="2468880"/>
            <a:ext cx="10058400" cy="548640"/>
          </a:xfrm>
          <a:prstGeom prst="rect">
            <a:avLst/>
          </a:prstGeom>
          <a:noFill/>
          <a:ln/>
        </p:spPr>
        <p:txBody>
          <a:bodyPr wrap="square" lIns="0" tIns="0" rIns="0" bIns="0" rtlCol="0" anchor="ctr"/>
          <a:lstStyle/>
          <a:p>
            <a:pPr indent="0" marL="0">
              <a:buNone/>
            </a:pPr>
            <a:r>
              <a:rPr lang="en-US" sz="2000" dirty="0">
                <a:solidFill>
                  <a:srgbClr val="CFE3E3"/>
                </a:solidFill>
              </a:rPr>
              <a:t>Live walkthrough next: code → CI run → Terraform → Argo CD → kubectl → Prometheus → Grafana</a:t>
            </a:r>
            <a:endParaRPr lang="en-US" sz="2000" dirty="0"/>
          </a:p>
        </p:txBody>
      </p:sp>
      <p:pic>
        <p:nvPicPr>
          <p:cNvPr id="4" name="Image 0" descr="preencoded.png">    </p:cNvPr>
          <p:cNvPicPr>
            <a:picLocks noChangeAspect="1"/>
          </p:cNvPicPr>
          <p:nvPr/>
        </p:nvPicPr>
        <p:blipFill>
          <a:blip r:embed="rId1"/>
          <a:stretch>
            <a:fillRect/>
          </a:stretch>
        </p:blipFill>
        <p:spPr>
          <a:xfrm>
            <a:off x="731520" y="3794760"/>
            <a:ext cx="411480" cy="411480"/>
          </a:xfrm>
          <a:prstGeom prst="rect">
            <a:avLst/>
          </a:prstGeom>
        </p:spPr>
      </p:pic>
      <p:sp>
        <p:nvSpPr>
          <p:cNvPr id="5" name="Text 2"/>
          <p:cNvSpPr txBox="1"/>
          <p:nvPr/>
        </p:nvSpPr>
        <p:spPr>
          <a:xfrm>
            <a:off x="1325880" y="3749040"/>
            <a:ext cx="8229600" cy="502920"/>
          </a:xfrm>
          <a:prstGeom prst="rect">
            <a:avLst/>
          </a:prstGeom>
          <a:noFill/>
          <a:ln/>
        </p:spPr>
        <p:txBody>
          <a:bodyPr wrap="square" lIns="0" tIns="0" rIns="0" bIns="0" rtlCol="0" anchor="ctr"/>
          <a:lstStyle/>
          <a:p>
            <a:pPr indent="0" marL="0">
              <a:buNone/>
            </a:pPr>
            <a:r>
              <a:rPr lang="en-US" sz="1800" dirty="0">
                <a:solidFill>
                  <a:srgbClr val="FFFFFF"/>
                </a:solidFill>
              </a:rPr>
              <a:t>github.com/MadaraUchiha-tech/devsecops-python</a:t>
            </a:r>
            <a:endParaRPr lang="en-US" sz="1800" dirty="0"/>
          </a:p>
        </p:txBody>
      </p:sp>
      <p:sp>
        <p:nvSpPr>
          <p:cNvPr id="6" name="Text 3"/>
          <p:cNvSpPr txBox="1"/>
          <p:nvPr/>
        </p:nvSpPr>
        <p:spPr>
          <a:xfrm>
            <a:off x="1325880" y="4297680"/>
            <a:ext cx="8229600" cy="411480"/>
          </a:xfrm>
          <a:prstGeom prst="rect">
            <a:avLst/>
          </a:prstGeom>
          <a:noFill/>
          <a:ln/>
        </p:spPr>
        <p:txBody>
          <a:bodyPr wrap="square" lIns="0" tIns="0" rIns="0" bIns="0" rtlCol="0" anchor="ctr"/>
          <a:lstStyle/>
          <a:p>
            <a:pPr indent="0" marL="0">
              <a:buNone/>
            </a:pPr>
            <a:r>
              <a:rPr lang="en-US" sz="1400" dirty="0">
                <a:solidFill>
                  <a:srgbClr val="9FC3C7"/>
                </a:solidFill>
              </a:rPr>
              <a:t>ghcr.io/madarauchiha-tech/careslot-backend · careslot-frontend</a:t>
            </a:r>
            <a:endParaRPr lang="en-US" sz="14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C3C7"/>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CareSlot">
  <a:themeElements>
    <a:clrScheme name="CareSlot">
      <a:dk1>
        <a:srgbClr val="1D2A2E"/>
      </a:dk1>
      <a:lt1>
        <a:srgbClr val="FFFFFF"/>
      </a:lt1>
      <a:dk2>
        <a:srgbClr val="0F3D47"/>
      </a:dk2>
      <a:lt2>
        <a:srgbClr val="EEF4F4"/>
      </a:lt2>
      <a:accent1>
        <a:srgbClr val="0F6B74"/>
      </a:accent1>
      <a:accent2>
        <a:srgbClr val="E08A1E"/>
      </a:accent2>
      <a:accent3>
        <a:srgbClr val="2E6B3F"/>
      </a:accent3>
      <a:accent4>
        <a:srgbClr val="A63A2B"/>
      </a:accent4>
      <a:accent5>
        <a:srgbClr val="2F5D8A"/>
      </a:accent5>
      <a:accent6>
        <a:srgbClr val="5F6B6E"/>
      </a:accent6>
      <a:hlink>
        <a:srgbClr val="0F6B74"/>
      </a:hlink>
      <a:folHlink>
        <a:srgbClr val="2F5D8A"/>
      </a:folHlink>
    </a:clrScheme>
    <a:fontScheme name="CareSlo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CareSlot - DevSecOps Capstone</dc:title>
  <dc:subject>PptxGenJS Presentation</dc:subject>
  <dc:creator>MadaraUchiha-tech</dc:creator>
  <cp:lastModifiedBy>MadaraUchiha-tech</cp:lastModifiedBy>
  <cp:revision>1</cp:revision>
  <dcterms:created xsi:type="dcterms:W3CDTF">2026-10-16T16:07:13Z</dcterms:created>
  <dcterms:modified xsi:type="dcterms:W3CDTF">2026-10-16T16:07:13Z</dcterms:modified>
</cp:coreProperties>
</file>